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24384000" cy="13716000"/>
  <p:notesSz cx="6858000" cy="9144000"/>
  <p:embeddedFontLst>
    <p:embeddedFont>
      <p:font typeface="Pretendard Regular"/>
      <p:regular r:id="rId23"/>
    </p:embeddedFont>
    <p:embeddedFont>
      <p:font typeface="Pretendard SemiBold"/>
      <p:bold r:id="rId24"/>
    </p:embeddedFont>
    <p:embeddedFont>
      <p:font typeface="Pretendard Medium"/>
      <p:bold r:id="rId25"/>
    </p:embeddedFont>
    <p:embeddedFont>
      <p:font typeface="Pretendard Bold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1.fntdata" Type="http://schemas.openxmlformats.org/officeDocument/2006/relationships/font"/><Relationship Id="rId24" Target="fonts/font2.fntdata" Type="http://schemas.openxmlformats.org/officeDocument/2006/relationships/font"/><Relationship Id="rId25" Target="fonts/font3.fntdata" Type="http://schemas.openxmlformats.org/officeDocument/2006/relationships/font"/><Relationship Id="rId26" Target="fonts/font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9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9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9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9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9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4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5.png" Type="http://schemas.openxmlformats.org/officeDocument/2006/relationships/image"/><Relationship Id="rId9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DD3C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25500" y="762000"/>
            <a:ext cx="22720300" cy="1220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122900" y="558800"/>
            <a:ext cx="3771900" cy="2006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413000" y="8470900"/>
            <a:ext cx="10426700" cy="711200"/>
          </a:xfrm>
          <a:prstGeom prst="rect">
            <a:avLst/>
          </a:prstGeom>
        </p:spPr>
        <p:txBody>
          <a:bodyPr anchor="t" rtlCol="false" lIns="0" tIns="50799" rIns="0" bIns="0"/>
          <a:lstStyle/>
          <a:p>
            <a:pPr algn="l" lvl="0">
              <a:lnSpc>
                <a:spcPct val="99600"/>
              </a:lnSpc>
            </a:pPr>
            <a:r>
              <a:rPr lang="ko-KR" sz="3999" b="false" i="false" u="none" strike="noStrike">
                <a:solidFill>
                  <a:srgbClr val="180D0A"/>
                </a:solidFill>
                <a:ea typeface="Pretendard SemiBold"/>
              </a:rPr>
              <a:t>피부타입</a:t>
            </a:r>
            <a:r>
              <a:rPr lang="en-US" sz="3999" b="false" i="false" u="none" strike="noStrike">
                <a:solidFill>
                  <a:srgbClr val="180D0A"/>
                </a:solidFill>
                <a:latin typeface="Pretendard SemiBold"/>
              </a:rPr>
              <a:t> </a:t>
            </a:r>
            <a:r>
              <a:rPr lang="ko-KR" sz="3999" b="false" i="false" u="none" strike="noStrike">
                <a:solidFill>
                  <a:srgbClr val="180D0A"/>
                </a:solidFill>
                <a:ea typeface="Pretendard SemiBold"/>
              </a:rPr>
              <a:t>및</a:t>
            </a:r>
            <a:r>
              <a:rPr lang="en-US" sz="3999" b="false" i="false" u="none" strike="noStrike">
                <a:solidFill>
                  <a:srgbClr val="180D0A"/>
                </a:solidFill>
                <a:latin typeface="Pretendard SemiBold"/>
              </a:rPr>
              <a:t> </a:t>
            </a:r>
            <a:r>
              <a:rPr lang="ko-KR" sz="3999" b="false" i="false" u="none" strike="noStrike">
                <a:solidFill>
                  <a:srgbClr val="180D0A"/>
                </a:solidFill>
                <a:ea typeface="Pretendard SemiBold"/>
              </a:rPr>
              <a:t>사용자</a:t>
            </a:r>
            <a:r>
              <a:rPr lang="en-US" sz="3999" b="false" i="false" u="none" strike="noStrike">
                <a:solidFill>
                  <a:srgbClr val="180D0A"/>
                </a:solidFill>
                <a:latin typeface="Pretendard SemiBold"/>
              </a:rPr>
              <a:t> </a:t>
            </a:r>
            <a:r>
              <a:rPr lang="ko-KR" sz="3999" b="false" i="false" u="none" strike="noStrike">
                <a:solidFill>
                  <a:srgbClr val="180D0A"/>
                </a:solidFill>
                <a:ea typeface="Pretendard SemiBold"/>
              </a:rPr>
              <a:t>맞춤</a:t>
            </a:r>
            <a:r>
              <a:rPr lang="en-US" sz="3999" b="false" i="false" u="none" strike="noStrike">
                <a:solidFill>
                  <a:srgbClr val="180D0A"/>
                </a:solidFill>
                <a:latin typeface="Pretendard SemiBold"/>
              </a:rPr>
              <a:t> </a:t>
            </a:r>
            <a:r>
              <a:rPr lang="ko-KR" sz="3999" b="false" i="false" u="none" strike="noStrike">
                <a:solidFill>
                  <a:srgbClr val="180D0A"/>
                </a:solidFill>
                <a:ea typeface="Pretendard SemiBold"/>
              </a:rPr>
              <a:t>자동</a:t>
            </a:r>
            <a:r>
              <a:rPr lang="en-US" sz="3999" b="false" i="false" u="none" strike="noStrike">
                <a:solidFill>
                  <a:srgbClr val="180D0A"/>
                </a:solidFill>
                <a:latin typeface="Pretendard SemiBold"/>
              </a:rPr>
              <a:t> </a:t>
            </a:r>
            <a:r>
              <a:rPr lang="ko-KR" sz="3999" b="false" i="false" u="none" strike="noStrike">
                <a:solidFill>
                  <a:srgbClr val="180D0A"/>
                </a:solidFill>
                <a:ea typeface="Pretendard SemiBold"/>
              </a:rPr>
              <a:t>추천</a:t>
            </a:r>
            <a:r>
              <a:rPr lang="en-US" sz="3999" b="false" i="false" u="none" strike="noStrike">
                <a:solidFill>
                  <a:srgbClr val="180D0A"/>
                </a:solidFill>
                <a:latin typeface="Pretendard SemiBold"/>
              </a:rPr>
              <a:t> </a:t>
            </a:r>
            <a:r>
              <a:rPr lang="ko-KR" sz="3999" b="false" i="false" u="none" strike="noStrike">
                <a:solidFill>
                  <a:srgbClr val="180D0A"/>
                </a:solidFill>
                <a:ea typeface="Pretendard SemiBold"/>
              </a:rPr>
              <a:t>서비스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13000" y="11315700"/>
            <a:ext cx="5715000" cy="952500"/>
          </a:xfrm>
          <a:prstGeom prst="rect">
            <a:avLst/>
          </a:prstGeom>
        </p:spPr>
        <p:txBody>
          <a:bodyPr anchor="t" rtlCol="false" lIns="0" tIns="3431" rIns="0" bIns="0"/>
          <a:lstStyle/>
          <a:p>
            <a:pPr algn="l" lvl="0">
              <a:lnSpc>
                <a:spcPct val="114538"/>
              </a:lnSpc>
            </a:pPr>
            <a:r>
              <a:rPr lang="en-US" sz="2701" b="false" i="false" u="none" strike="noStrike" spc="54">
                <a:solidFill>
                  <a:srgbClr val="180D0A"/>
                </a:solidFill>
                <a:latin typeface="Pretendard Medium"/>
              </a:rPr>
              <a:t>2</a:t>
            </a:r>
            <a:r>
              <a:rPr lang="ko-KR" sz="2701" b="false" i="false" u="none" strike="noStrike" spc="54">
                <a:solidFill>
                  <a:srgbClr val="180D0A"/>
                </a:solidFill>
                <a:ea typeface="Pretendard Medium"/>
              </a:rPr>
              <a:t>조</a:t>
            </a:r>
            <a:r>
              <a:rPr lang="en-US" sz="2701" b="false" i="false" u="none" strike="noStrike" spc="54">
                <a:solidFill>
                  <a:srgbClr val="180D0A"/>
                </a:solidFill>
                <a:latin typeface="Pretendard Medium"/>
              </a:rPr>
              <a:t> </a:t>
            </a:r>
            <a:r>
              <a:rPr lang="ko-KR" sz="2701" b="false" i="false" u="none" strike="noStrike" spc="54">
                <a:solidFill>
                  <a:srgbClr val="180D0A"/>
                </a:solidFill>
                <a:ea typeface="Pretendard Medium"/>
              </a:rPr>
              <a:t>윤태현</a:t>
            </a:r>
            <a:r>
              <a:rPr lang="en-US" sz="2701" b="false" i="false" u="none" strike="noStrike" spc="54">
                <a:solidFill>
                  <a:srgbClr val="180D0A"/>
                </a:solidFill>
                <a:latin typeface="Pretendard Medium"/>
              </a:rPr>
              <a:t>, </a:t>
            </a:r>
            <a:r>
              <a:rPr lang="ko-KR" sz="2701" b="false" i="false" u="none" strike="noStrike" spc="54">
                <a:solidFill>
                  <a:srgbClr val="180D0A"/>
                </a:solidFill>
                <a:ea typeface="Pretendard Medium"/>
              </a:rPr>
              <a:t>전익환</a:t>
            </a:r>
          </a:p>
          <a:p>
            <a:pPr algn="l" lvl="0">
              <a:lnSpc>
                <a:spcPct val="114538"/>
              </a:lnSpc>
            </a:pPr>
            <a:r>
              <a:rPr lang="ko-KR" sz="2701" b="false" i="false" u="none" strike="noStrike" spc="54">
                <a:solidFill>
                  <a:srgbClr val="180D0A"/>
                </a:solidFill>
                <a:ea typeface="Pretendard Medium"/>
              </a:rPr>
              <a:t>보고일시</a:t>
            </a:r>
            <a:r>
              <a:rPr lang="en-US" sz="2701" b="false" i="false" u="none" strike="noStrike" spc="54">
                <a:solidFill>
                  <a:srgbClr val="180D0A"/>
                </a:solidFill>
                <a:latin typeface="Pretendard Medium"/>
              </a:rPr>
              <a:t>. 2025</a:t>
            </a:r>
            <a:r>
              <a:rPr lang="ko-KR" sz="2701" b="false" i="false" u="none" strike="noStrike" spc="54">
                <a:solidFill>
                  <a:srgbClr val="180D0A"/>
                </a:solidFill>
                <a:ea typeface="Pretendard Medium"/>
              </a:rPr>
              <a:t>년</a:t>
            </a:r>
            <a:r>
              <a:rPr lang="en-US" sz="2701" b="false" i="false" u="none" strike="noStrike" spc="54">
                <a:solidFill>
                  <a:srgbClr val="180D0A"/>
                </a:solidFill>
                <a:latin typeface="Pretendard Medium"/>
              </a:rPr>
              <a:t> 10</a:t>
            </a:r>
            <a:r>
              <a:rPr lang="ko-KR" sz="2701" b="false" i="false" u="none" strike="noStrike" spc="54">
                <a:solidFill>
                  <a:srgbClr val="180D0A"/>
                </a:solidFill>
                <a:ea typeface="Pretendard Medium"/>
              </a:rPr>
              <a:t>월</a:t>
            </a:r>
            <a:r>
              <a:rPr lang="en-US" sz="2701" b="false" i="false" u="none" strike="noStrike" spc="54">
                <a:solidFill>
                  <a:srgbClr val="180D0A"/>
                </a:solidFill>
                <a:latin typeface="Pretendard Medium"/>
              </a:rPr>
              <a:t> 1</a:t>
            </a:r>
            <a:r>
              <a:rPr lang="ko-KR" sz="2701" b="false" i="false" u="none" strike="noStrike" spc="54">
                <a:solidFill>
                  <a:srgbClr val="180D0A"/>
                </a:solidFill>
                <a:ea typeface="Pretendard Medium"/>
              </a:rPr>
              <a:t>일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120100" y="12661900"/>
            <a:ext cx="2489200" cy="355600"/>
          </a:xfrm>
          <a:prstGeom prst="rect">
            <a:avLst/>
          </a:prstGeom>
        </p:spPr>
        <p:txBody>
          <a:bodyPr anchor="t" rtlCol="false" lIns="0" tIns="12700" rIns="0" bIns="0"/>
          <a:lstStyle/>
          <a:p>
            <a:pPr algn="r" lvl="0">
              <a:lnSpc>
                <a:spcPct val="107899"/>
              </a:lnSpc>
            </a:pPr>
            <a:r>
              <a:rPr lang="en" sz="2000" b="false" i="false" u="none" strike="noStrike" spc="-20">
                <a:solidFill>
                  <a:srgbClr val="FFFFFF"/>
                </a:solidFill>
                <a:latin typeface="Pretendard Medium"/>
              </a:rPr>
              <a:t>KOREA IT ACADEMY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948400" y="762000"/>
            <a:ext cx="2120900" cy="14859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2413000" y="4191000"/>
            <a:ext cx="14033500" cy="4229100"/>
          </a:xfrm>
          <a:prstGeom prst="rect">
            <a:avLst/>
          </a:prstGeom>
        </p:spPr>
        <p:txBody>
          <a:bodyPr anchor="t" rtlCol="false" lIns="0" tIns="253994" rIns="0" bIns="0"/>
          <a:lstStyle/>
          <a:p>
            <a:pPr algn="l" lvl="0">
              <a:lnSpc>
                <a:spcPct val="91299"/>
              </a:lnSpc>
            </a:pPr>
            <a:r>
              <a:rPr lang="en" sz="13333" b="false" i="false" u="none" strike="noStrike">
                <a:solidFill>
                  <a:srgbClr val="180D0A"/>
                </a:solidFill>
                <a:ea typeface="Pretendard SemiBold"/>
              </a:rPr>
              <a:t>빅데이터</a:t>
            </a:r>
          </a:p>
          <a:p>
            <a:pPr algn="l" lvl="0">
              <a:lnSpc>
                <a:spcPct val="91299"/>
              </a:lnSpc>
            </a:pPr>
            <a:r>
              <a:rPr lang="ko-KR" sz="13333" b="false" i="false" u="none" strike="noStrike">
                <a:solidFill>
                  <a:srgbClr val="2C2C2C"/>
                </a:solidFill>
                <a:ea typeface="Pretendard SemiBold"/>
              </a:rPr>
              <a:t>분석</a:t>
            </a:r>
            <a:r>
              <a:rPr lang="en-US" sz="13333" b="false" i="false" u="none" strike="noStrike">
                <a:solidFill>
                  <a:srgbClr val="2C2C2C"/>
                </a:solidFill>
                <a:latin typeface="Pretendard SemiBold"/>
              </a:rPr>
              <a:t> </a:t>
            </a:r>
            <a:r>
              <a:rPr lang="ko-KR" sz="13333" b="false" i="false" u="none" strike="noStrike">
                <a:solidFill>
                  <a:srgbClr val="2C2C2C"/>
                </a:solidFill>
                <a:ea typeface="Pretendard SemiBold"/>
              </a:rPr>
              <a:t>기획</a:t>
            </a:r>
            <a:r>
              <a:rPr lang="en-US" sz="13333" b="false" i="false" u="none" strike="noStrike">
                <a:solidFill>
                  <a:srgbClr val="2C2C2C"/>
                </a:solidFill>
                <a:latin typeface="Pretendard SemiBold"/>
              </a:rPr>
              <a:t> </a:t>
            </a:r>
            <a:r>
              <a:rPr lang="ko-KR" sz="13333" b="false" i="false" u="none" strike="noStrike">
                <a:solidFill>
                  <a:srgbClr val="2C2C2C"/>
                </a:solidFill>
                <a:ea typeface="Pretendard SemiBold"/>
              </a:rPr>
              <a:t>보고서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2491700" y="11760200"/>
            <a:ext cx="5969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DD3C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25500" y="762000"/>
            <a:ext cx="22720300" cy="1220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588500" y="3695700"/>
            <a:ext cx="3556000" cy="2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0972800" y="3035300"/>
            <a:ext cx="774700" cy="469900"/>
          </a:xfrm>
          <a:prstGeom prst="rect">
            <a:avLst/>
          </a:prstGeom>
        </p:spPr>
        <p:txBody>
          <a:bodyPr anchor="t" rtlCol="false" lIns="0" tIns="16933" rIns="0" bIns="0"/>
          <a:lstStyle/>
          <a:p>
            <a:pPr algn="ctr" lvl="0">
              <a:lnSpc>
                <a:spcPct val="107899"/>
              </a:lnSpc>
            </a:pPr>
            <a:r>
              <a:rPr lang="en" sz="2666" b="false" i="false" u="none" strike="noStrike">
                <a:solidFill>
                  <a:srgbClr val="54443F"/>
                </a:solidFill>
                <a:latin typeface="Pretendard Medium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52000" y="3962400"/>
            <a:ext cx="3429000" cy="546100"/>
          </a:xfrm>
          <a:prstGeom prst="rect">
            <a:avLst/>
          </a:prstGeom>
        </p:spPr>
        <p:txBody>
          <a:bodyPr anchor="t" rtlCol="false" lIns="0" tIns="19473" rIns="0" bIns="0"/>
          <a:lstStyle/>
          <a:p>
            <a:pPr algn="ctr" lvl="0">
              <a:lnSpc>
                <a:spcPct val="107899"/>
              </a:lnSpc>
            </a:pPr>
            <a:r>
              <a:rPr lang="ko-KR" sz="3066" b="false" i="false" u="none" strike="noStrike">
                <a:solidFill>
                  <a:srgbClr val="180D0A"/>
                </a:solidFill>
                <a:ea typeface="Pretendard SemiBold"/>
              </a:rPr>
              <a:t>요건</a:t>
            </a:r>
            <a:r>
              <a:rPr lang="en-US" sz="3066" b="false" i="false" u="none" strike="noStrike">
                <a:solidFill>
                  <a:srgbClr val="180D0A"/>
                </a:solidFill>
                <a:latin typeface="Pretendard SemiBold"/>
              </a:rPr>
              <a:t> </a:t>
            </a:r>
            <a:r>
              <a:rPr lang="ko-KR" sz="3066" b="false" i="false" u="none" strike="noStrike">
                <a:solidFill>
                  <a:srgbClr val="180D0A"/>
                </a:solidFill>
                <a:ea typeface="Pretendard SemiBold"/>
              </a:rPr>
              <a:t>정의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15500" y="5016500"/>
            <a:ext cx="3568700" cy="21336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466" b="false" i="false" u="none" strike="noStrike">
                <a:solidFill>
                  <a:srgbClr val="2C2C2C"/>
                </a:solidFill>
                <a:ea typeface="Pretendard Regular"/>
              </a:rPr>
              <a:t>기존</a:t>
            </a:r>
            <a:r>
              <a:rPr lang="en-US" sz="2466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false" i="false" u="none" strike="noStrike">
                <a:solidFill>
                  <a:srgbClr val="2C2C2C"/>
                </a:solidFill>
                <a:ea typeface="Pretendard Regular"/>
              </a:rPr>
              <a:t>요구사항</a:t>
            </a:r>
            <a:r>
              <a:rPr lang="en-US" sz="2466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false" i="false" u="none" strike="noStrike">
                <a:solidFill>
                  <a:srgbClr val="2C2C2C"/>
                </a:solidFill>
                <a:ea typeface="Pretendard Regular"/>
              </a:rPr>
              <a:t>분석표</a:t>
            </a:r>
          </a:p>
          <a:p>
            <a:pPr algn="l" lvl="1" indent="-342900" marL="342900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466" b="false" i="false" u="none" strike="noStrike">
                <a:solidFill>
                  <a:srgbClr val="2C2C2C"/>
                </a:solidFill>
                <a:ea typeface="Pretendard Regular"/>
              </a:rPr>
              <a:t>요구사항</a:t>
            </a:r>
            <a:r>
              <a:rPr lang="en-US" sz="2466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false" i="false" u="none" strike="noStrike">
                <a:solidFill>
                  <a:srgbClr val="2C2C2C"/>
                </a:solidFill>
                <a:ea typeface="Pretendard Regular"/>
              </a:rPr>
              <a:t>명세화</a:t>
            </a:r>
          </a:p>
          <a:p>
            <a:pPr algn="l" lvl="1" indent="-342900" marL="342900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66" b="false" i="false" u="none" strike="noStrike">
                <a:solidFill>
                  <a:srgbClr val="2C2C2C"/>
                </a:solidFill>
                <a:latin typeface="Pretendard Regular"/>
              </a:rPr>
              <a:t>Use Case </a:t>
            </a:r>
            <a:r>
              <a:rPr lang="ko-KR" sz="2466" b="false" i="false" u="none" strike="noStrike">
                <a:solidFill>
                  <a:srgbClr val="2C2C2C"/>
                </a:solidFill>
                <a:ea typeface="Pretendard Regular"/>
              </a:rPr>
              <a:t>명세서</a:t>
            </a:r>
          </a:p>
          <a:p>
            <a:pPr algn="l" lvl="1" indent="-342900" marL="342900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466" b="false" i="false" u="none" strike="noStrike">
                <a:solidFill>
                  <a:srgbClr val="2C2C2C"/>
                </a:solidFill>
                <a:ea typeface="Pretendard Regular"/>
              </a:rPr>
              <a:t>검증</a:t>
            </a:r>
            <a:r>
              <a:rPr lang="en-US" sz="2466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false" i="false" u="none" strike="noStrike">
                <a:solidFill>
                  <a:srgbClr val="2C2C2C"/>
                </a:solidFill>
                <a:ea typeface="Pretendard Regular"/>
              </a:rPr>
              <a:t>기법</a:t>
            </a:r>
            <a:r>
              <a:rPr lang="en-US" sz="2466" b="false" i="false" u="none" strike="noStrike">
                <a:solidFill>
                  <a:srgbClr val="2C2C2C"/>
                </a:solidFill>
                <a:latin typeface="Pretendard Regular"/>
              </a:rPr>
              <a:t>: </a:t>
            </a:r>
            <a:r>
              <a:rPr lang="ko-KR" sz="2466" b="false" i="false" u="none" strike="noStrike">
                <a:solidFill>
                  <a:srgbClr val="2C2C2C"/>
                </a:solidFill>
                <a:ea typeface="Pretendard Regular"/>
              </a:rPr>
              <a:t>검토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588500" y="9436100"/>
            <a:ext cx="3556000" cy="2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843000" y="9436100"/>
            <a:ext cx="3556000" cy="254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0972800" y="8763000"/>
            <a:ext cx="774700" cy="469900"/>
          </a:xfrm>
          <a:prstGeom prst="rect">
            <a:avLst/>
          </a:prstGeom>
        </p:spPr>
        <p:txBody>
          <a:bodyPr anchor="t" rtlCol="false" lIns="0" tIns="16933" rIns="0" bIns="0"/>
          <a:lstStyle/>
          <a:p>
            <a:pPr algn="ctr" lvl="0">
              <a:lnSpc>
                <a:spcPct val="107899"/>
              </a:lnSpc>
            </a:pPr>
            <a:r>
              <a:rPr lang="en" sz="2666" b="false" i="false" u="none" strike="noStrike">
                <a:solidFill>
                  <a:srgbClr val="54443F"/>
                </a:solidFill>
                <a:latin typeface="Pretendard Medium"/>
              </a:rPr>
              <a:t>04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227300" y="8763000"/>
            <a:ext cx="774700" cy="469900"/>
          </a:xfrm>
          <a:prstGeom prst="rect">
            <a:avLst/>
          </a:prstGeom>
        </p:spPr>
        <p:txBody>
          <a:bodyPr anchor="t" rtlCol="false" lIns="0" tIns="16933" rIns="0" bIns="0"/>
          <a:lstStyle/>
          <a:p>
            <a:pPr algn="ctr" lvl="0">
              <a:lnSpc>
                <a:spcPct val="107899"/>
              </a:lnSpc>
            </a:pPr>
            <a:r>
              <a:rPr lang="en" sz="2666" b="false" i="false" u="none" strike="noStrike">
                <a:solidFill>
                  <a:srgbClr val="54443F"/>
                </a:solidFill>
                <a:latin typeface="Pretendard Medium"/>
              </a:rPr>
              <a:t>05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13900" y="9690100"/>
            <a:ext cx="3505200" cy="546100"/>
          </a:xfrm>
          <a:prstGeom prst="rect">
            <a:avLst/>
          </a:prstGeom>
        </p:spPr>
        <p:txBody>
          <a:bodyPr anchor="t" rtlCol="false" lIns="0" tIns="19473" rIns="0" bIns="0"/>
          <a:lstStyle/>
          <a:p>
            <a:pPr algn="ctr" lvl="0">
              <a:lnSpc>
                <a:spcPct val="107899"/>
              </a:lnSpc>
            </a:pPr>
            <a:r>
              <a:rPr lang="en" sz="3066" b="false" i="false" u="none" strike="noStrike">
                <a:solidFill>
                  <a:srgbClr val="180D0A"/>
                </a:solidFill>
                <a:ea typeface="Pretendard SemiBold"/>
              </a:rPr>
              <a:t>모델링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868400" y="9690100"/>
            <a:ext cx="3505200" cy="546100"/>
          </a:xfrm>
          <a:prstGeom prst="rect">
            <a:avLst/>
          </a:prstGeom>
        </p:spPr>
        <p:txBody>
          <a:bodyPr anchor="t" rtlCol="false" lIns="0" tIns="19473" rIns="0" bIns="0"/>
          <a:lstStyle/>
          <a:p>
            <a:pPr algn="ctr" lvl="0">
              <a:lnSpc>
                <a:spcPct val="107899"/>
              </a:lnSpc>
            </a:pPr>
            <a:r>
              <a:rPr lang="ko-KR" sz="3066" b="false" i="false" u="none" strike="noStrike">
                <a:solidFill>
                  <a:srgbClr val="180D0A"/>
                </a:solidFill>
                <a:ea typeface="Pretendard SemiBold"/>
              </a:rPr>
              <a:t>결과</a:t>
            </a:r>
            <a:r>
              <a:rPr lang="en-US" sz="3066" b="false" i="false" u="none" strike="noStrike">
                <a:solidFill>
                  <a:srgbClr val="180D0A"/>
                </a:solidFill>
                <a:latin typeface="Pretendard SemiBold"/>
              </a:rPr>
              <a:t> </a:t>
            </a:r>
            <a:r>
              <a:rPr lang="ko-KR" sz="3066" b="false" i="false" u="none" strike="noStrike">
                <a:solidFill>
                  <a:srgbClr val="180D0A"/>
                </a:solidFill>
                <a:ea typeface="Pretendard SemiBold"/>
              </a:rPr>
              <a:t>적용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02800" y="10693400"/>
            <a:ext cx="3568700" cy="4445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466" b="false" i="false" u="none" strike="noStrike">
                <a:solidFill>
                  <a:srgbClr val="2C2C2C"/>
                </a:solidFill>
                <a:ea typeface="Pretendard Regular"/>
              </a:rPr>
              <a:t>분석</a:t>
            </a:r>
            <a:r>
              <a:rPr lang="en-US" sz="2466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false" i="false" u="none" strike="noStrike">
                <a:solidFill>
                  <a:srgbClr val="2C2C2C"/>
                </a:solidFill>
                <a:ea typeface="Pretendard Regular"/>
              </a:rPr>
              <a:t>모델링</a:t>
            </a:r>
            <a:r>
              <a:rPr lang="en-US" sz="2466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false" i="false" u="none" strike="noStrike">
                <a:solidFill>
                  <a:srgbClr val="2C2C2C"/>
                </a:solidFill>
                <a:ea typeface="Pretendard Regular"/>
              </a:rPr>
              <a:t>기획</a:t>
            </a:r>
            <a:r>
              <a:rPr lang="en-US" sz="2466" b="false" i="false" u="none" strike="noStrike">
                <a:solidFill>
                  <a:srgbClr val="2C2C2C"/>
                </a:solidFill>
                <a:latin typeface="Pretendard Regular"/>
              </a:rPr>
              <a:t>(</a:t>
            </a:r>
            <a:r>
              <a:rPr lang="ko-KR" sz="2466" b="false" i="false" u="none" strike="noStrike">
                <a:solidFill>
                  <a:srgbClr val="2C2C2C"/>
                </a:solidFill>
                <a:ea typeface="Pretendard Regular"/>
              </a:rPr>
              <a:t>분류</a:t>
            </a:r>
            <a:r>
              <a:rPr lang="en-US" sz="2466" b="false" i="false" u="none" strike="noStrike">
                <a:solidFill>
                  <a:srgbClr val="2C2C2C"/>
                </a:solidFill>
                <a:latin typeface="Pretendard Regular"/>
              </a:rPr>
              <a:t>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970000" y="10693400"/>
            <a:ext cx="3568700" cy="4445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466" b="false" i="false" u="none" strike="noStrike">
                <a:solidFill>
                  <a:srgbClr val="2C2C2C"/>
                </a:solidFill>
                <a:ea typeface="Pretendard Regular"/>
              </a:rPr>
              <a:t>분석</a:t>
            </a:r>
            <a:r>
              <a:rPr lang="en-US" sz="2466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false" i="false" u="none" strike="noStrike">
                <a:solidFill>
                  <a:srgbClr val="2C2C2C"/>
                </a:solidFill>
                <a:ea typeface="Pretendard Regular"/>
              </a:rPr>
              <a:t>결과</a:t>
            </a:r>
            <a:r>
              <a:rPr lang="en-US" sz="2466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false" i="false" u="none" strike="noStrike">
                <a:solidFill>
                  <a:srgbClr val="2C2C2C"/>
                </a:solidFill>
                <a:ea typeface="Pretendard Regular"/>
              </a:rPr>
              <a:t>적용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868400" y="3695700"/>
            <a:ext cx="3556000" cy="254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5252700" y="3035300"/>
            <a:ext cx="774700" cy="469900"/>
          </a:xfrm>
          <a:prstGeom prst="rect">
            <a:avLst/>
          </a:prstGeom>
        </p:spPr>
        <p:txBody>
          <a:bodyPr anchor="t" rtlCol="false" lIns="0" tIns="16933" rIns="0" bIns="0"/>
          <a:lstStyle/>
          <a:p>
            <a:pPr algn="ctr" lvl="0">
              <a:lnSpc>
                <a:spcPct val="107899"/>
              </a:lnSpc>
            </a:pPr>
            <a:r>
              <a:rPr lang="en" sz="2666" b="false" i="false" u="none" strike="noStrike">
                <a:solidFill>
                  <a:srgbClr val="54443F"/>
                </a:solidFill>
                <a:latin typeface="Pretendard Medium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160500" y="3962400"/>
            <a:ext cx="2959100" cy="546100"/>
          </a:xfrm>
          <a:prstGeom prst="rect">
            <a:avLst/>
          </a:prstGeom>
        </p:spPr>
        <p:txBody>
          <a:bodyPr anchor="t" rtlCol="false" lIns="0" tIns="19473" rIns="0" bIns="0"/>
          <a:lstStyle/>
          <a:p>
            <a:pPr algn="ctr" lvl="0">
              <a:lnSpc>
                <a:spcPct val="107899"/>
              </a:lnSpc>
            </a:pPr>
            <a:r>
              <a:rPr lang="ko-KR" sz="3066" b="false" i="false" u="none" strike="noStrike">
                <a:solidFill>
                  <a:srgbClr val="180D0A"/>
                </a:solidFill>
                <a:ea typeface="Pretendard SemiBold"/>
              </a:rPr>
              <a:t>데이터</a:t>
            </a:r>
            <a:r>
              <a:rPr lang="en-US" sz="3066" b="false" i="false" u="none" strike="noStrike">
                <a:solidFill>
                  <a:srgbClr val="180D0A"/>
                </a:solidFill>
                <a:latin typeface="Pretendard SemiBold"/>
              </a:rPr>
              <a:t> </a:t>
            </a:r>
            <a:r>
              <a:rPr lang="ko-KR" sz="3066" b="false" i="false" u="none" strike="noStrike">
                <a:solidFill>
                  <a:srgbClr val="180D0A"/>
                </a:solidFill>
                <a:ea typeface="Pretendard SemiBold"/>
              </a:rPr>
              <a:t>확보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008100" y="5016500"/>
            <a:ext cx="3568700" cy="21336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466" b="false" i="false" u="none" strike="noStrike">
                <a:solidFill>
                  <a:srgbClr val="2C2C2C"/>
                </a:solidFill>
                <a:ea typeface="Pretendard Regular"/>
              </a:rPr>
              <a:t>개념적</a:t>
            </a:r>
            <a:r>
              <a:rPr lang="en-US" sz="2466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false" i="false" u="none" strike="noStrike">
                <a:solidFill>
                  <a:srgbClr val="2C2C2C"/>
                </a:solidFill>
                <a:ea typeface="Pretendard Regular"/>
              </a:rPr>
              <a:t>설계</a:t>
            </a:r>
          </a:p>
          <a:p>
            <a:pPr algn="l" lvl="1" indent="-342900" marL="342900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466" b="false" i="false" u="none" strike="noStrike">
                <a:solidFill>
                  <a:srgbClr val="2C2C2C"/>
                </a:solidFill>
                <a:ea typeface="Pretendard Regular"/>
              </a:rPr>
              <a:t>논리적</a:t>
            </a:r>
            <a:r>
              <a:rPr lang="en-US" sz="2466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false" i="false" u="none" strike="noStrike">
                <a:solidFill>
                  <a:srgbClr val="2C2C2C"/>
                </a:solidFill>
                <a:ea typeface="Pretendard Regular"/>
              </a:rPr>
              <a:t>설계</a:t>
            </a:r>
          </a:p>
          <a:p>
            <a:pPr algn="l" lvl="1" indent="-342900" marL="342900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466" b="false" i="false" u="none" strike="noStrike">
                <a:solidFill>
                  <a:srgbClr val="2C2C2C"/>
                </a:solidFill>
                <a:ea typeface="Pretendard Regular"/>
              </a:rPr>
              <a:t>외부</a:t>
            </a:r>
            <a:r>
              <a:rPr lang="en-US" sz="2466" b="false" i="false" u="none" strike="noStrike">
                <a:solidFill>
                  <a:srgbClr val="2C2C2C"/>
                </a:solidFill>
                <a:latin typeface="Pretendard Regular"/>
              </a:rPr>
              <a:t> Open API</a:t>
            </a:r>
          </a:p>
          <a:p>
            <a:pPr algn="l" lvl="1" indent="-342900" marL="342900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466" b="false" i="false" u="none" strike="noStrike">
                <a:solidFill>
                  <a:srgbClr val="2C2C2C"/>
                </a:solidFill>
                <a:ea typeface="Pretendard Regular"/>
              </a:rPr>
              <a:t>내부</a:t>
            </a:r>
            <a:r>
              <a:rPr lang="en-US" sz="2466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false" i="false" u="none" strike="noStrike">
                <a:solidFill>
                  <a:srgbClr val="2C2C2C"/>
                </a:solidFill>
                <a:ea typeface="Pretendard Regular"/>
              </a:rPr>
              <a:t>수집</a:t>
            </a:r>
            <a:r>
              <a:rPr lang="en-US" sz="2466" b="false" i="false" u="none" strike="noStrike">
                <a:solidFill>
                  <a:srgbClr val="2C2C2C"/>
                </a:solidFill>
                <a:latin typeface="Pretendard Regular"/>
              </a:rPr>
              <a:t> API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148300" y="3695700"/>
            <a:ext cx="3556000" cy="254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9545300" y="3035300"/>
            <a:ext cx="774700" cy="469900"/>
          </a:xfrm>
          <a:prstGeom prst="rect">
            <a:avLst/>
          </a:prstGeom>
        </p:spPr>
        <p:txBody>
          <a:bodyPr anchor="t" rtlCol="false" lIns="0" tIns="16933" rIns="0" bIns="0"/>
          <a:lstStyle/>
          <a:p>
            <a:pPr algn="ctr" lvl="0">
              <a:lnSpc>
                <a:spcPct val="107899"/>
              </a:lnSpc>
            </a:pPr>
            <a:r>
              <a:rPr lang="en" sz="2666" b="false" i="false" u="none" strike="noStrike">
                <a:solidFill>
                  <a:srgbClr val="54443F"/>
                </a:solidFill>
                <a:latin typeface="Pretendard Medium"/>
              </a:rPr>
              <a:t>03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453100" y="3962400"/>
            <a:ext cx="2959100" cy="546100"/>
          </a:xfrm>
          <a:prstGeom prst="rect">
            <a:avLst/>
          </a:prstGeom>
        </p:spPr>
        <p:txBody>
          <a:bodyPr anchor="t" rtlCol="false" lIns="0" tIns="19473" rIns="0" bIns="0"/>
          <a:lstStyle/>
          <a:p>
            <a:pPr algn="ctr" lvl="0">
              <a:lnSpc>
                <a:spcPct val="107899"/>
              </a:lnSpc>
            </a:pPr>
            <a:r>
              <a:rPr lang="ko-KR" sz="3066" b="false" i="false" u="none" strike="noStrike">
                <a:solidFill>
                  <a:srgbClr val="180D0A"/>
                </a:solidFill>
                <a:ea typeface="Pretendard SemiBold"/>
              </a:rPr>
              <a:t>데이터</a:t>
            </a:r>
            <a:r>
              <a:rPr lang="en-US" sz="3066" b="false" i="false" u="none" strike="noStrike">
                <a:solidFill>
                  <a:srgbClr val="180D0A"/>
                </a:solidFill>
                <a:latin typeface="Pretendard SemiBold"/>
              </a:rPr>
              <a:t> </a:t>
            </a:r>
            <a:r>
              <a:rPr lang="ko-KR" sz="3066" b="false" i="false" u="none" strike="noStrike">
                <a:solidFill>
                  <a:srgbClr val="180D0A"/>
                </a:solidFill>
                <a:ea typeface="Pretendard SemiBold"/>
              </a:rPr>
              <a:t>탐색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288000" y="5016500"/>
            <a:ext cx="3568700" cy="4445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466" b="false" i="false" u="none" strike="noStrike">
                <a:solidFill>
                  <a:srgbClr val="2C2C2C"/>
                </a:solidFill>
                <a:ea typeface="Pretendard Regular"/>
              </a:rPr>
              <a:t>데이터</a:t>
            </a:r>
            <a:r>
              <a:rPr lang="en-US" sz="2466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false" i="false" u="none" strike="noStrike">
                <a:solidFill>
                  <a:srgbClr val="2C2C2C"/>
                </a:solidFill>
                <a:ea typeface="Pretendard Regular"/>
              </a:rPr>
              <a:t>분석</a:t>
            </a:r>
            <a:r>
              <a:rPr lang="en-US" sz="2466" b="false" i="false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false" i="false" u="none" strike="noStrike">
                <a:solidFill>
                  <a:srgbClr val="2C2C2C"/>
                </a:solidFill>
                <a:ea typeface="Pretendard Regular"/>
              </a:rPr>
              <a:t>기획</a:t>
            </a:r>
            <a:r>
              <a:rPr lang="en-US" sz="2466" b="false" i="false" u="none" strike="noStrike">
                <a:solidFill>
                  <a:srgbClr val="2C2C2C"/>
                </a:solidFill>
                <a:latin typeface="Pretendard Regular"/>
              </a:rPr>
              <a:t>(</a:t>
            </a:r>
            <a:r>
              <a:rPr lang="ko-KR" sz="2466" b="false" i="false" u="none" strike="noStrike">
                <a:solidFill>
                  <a:srgbClr val="2C2C2C"/>
                </a:solidFill>
                <a:ea typeface="Pretendard Regular"/>
              </a:rPr>
              <a:t>분류</a:t>
            </a:r>
            <a:r>
              <a:rPr lang="en-US" sz="2466" b="false" i="false" u="none" strike="noStrike">
                <a:solidFill>
                  <a:srgbClr val="2C2C2C"/>
                </a:solidFill>
                <a:latin typeface="Pretendard Regular"/>
              </a:rPr>
              <a:t>)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85900" y="558800"/>
            <a:ext cx="3771900" cy="20066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1905000" y="6146800"/>
            <a:ext cx="6400800" cy="1422400"/>
          </a:xfrm>
          <a:prstGeom prst="rect">
            <a:avLst/>
          </a:prstGeom>
        </p:spPr>
        <p:txBody>
          <a:bodyPr anchor="t" rtlCol="false" lIns="0" tIns="101597" rIns="0" bIns="0"/>
          <a:lstStyle/>
          <a:p>
            <a:pPr algn="ctr" lvl="0">
              <a:lnSpc>
                <a:spcPct val="99600"/>
              </a:lnSpc>
            </a:pPr>
            <a:r>
              <a:rPr lang="en" sz="7998" b="false" i="false" u="none" strike="noStrike">
                <a:solidFill>
                  <a:srgbClr val="180D0A"/>
                </a:solidFill>
                <a:latin typeface="Pretendard SemiBold"/>
              </a:rPr>
              <a:t>CONTENTS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311400" y="762000"/>
            <a:ext cx="2120900" cy="14859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21120100" y="12661900"/>
            <a:ext cx="2489200" cy="355600"/>
          </a:xfrm>
          <a:prstGeom prst="rect">
            <a:avLst/>
          </a:prstGeom>
        </p:spPr>
        <p:txBody>
          <a:bodyPr anchor="t" rtlCol="false" lIns="0" tIns="12700" rIns="0" bIns="0"/>
          <a:lstStyle/>
          <a:p>
            <a:pPr algn="r" lvl="0">
              <a:lnSpc>
                <a:spcPct val="107899"/>
              </a:lnSpc>
            </a:pPr>
            <a:r>
              <a:rPr lang="en" sz="2000" b="false" i="false" u="none" strike="noStrike" spc="-20">
                <a:solidFill>
                  <a:srgbClr val="FFFFFF"/>
                </a:solidFill>
                <a:latin typeface="Pretendard Medium"/>
              </a:rPr>
              <a:t>KOREA IT ACADEMY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2491700" y="11760200"/>
            <a:ext cx="5969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DD3C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5900" y="558800"/>
            <a:ext cx="3771900" cy="2006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879600" y="762000"/>
            <a:ext cx="2971800" cy="1308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7333" b="false" i="false" u="none" strike="noStrike">
                <a:solidFill>
                  <a:srgbClr val="FFFFFF"/>
                </a:solidFill>
                <a:latin typeface="Pretendard SemiBold"/>
              </a:rPr>
              <a:t>01-01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29300" y="2197100"/>
            <a:ext cx="12738100" cy="1308100"/>
          </a:xfrm>
          <a:prstGeom prst="rect">
            <a:avLst/>
          </a:prstGeom>
        </p:spPr>
        <p:txBody>
          <a:bodyPr anchor="t" rtlCol="false" lIns="0" tIns="93131" rIns="0" bIns="0"/>
          <a:lstStyle/>
          <a:p>
            <a:pPr algn="ctr" lvl="0">
              <a:lnSpc>
                <a:spcPct val="99600"/>
              </a:lnSpc>
            </a:pPr>
            <a:r>
              <a:rPr lang="ko-KR" sz="7333" b="false" i="false" u="none" strike="noStrike">
                <a:solidFill>
                  <a:srgbClr val="180D0A"/>
                </a:solidFill>
                <a:ea typeface="Pretendard Bold"/>
              </a:rPr>
              <a:t>기존</a:t>
            </a:r>
            <a:r>
              <a:rPr lang="en-US" sz="7333" b="false" i="false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333" b="false" i="false" u="none" strike="noStrike">
                <a:solidFill>
                  <a:srgbClr val="180D0A"/>
                </a:solidFill>
                <a:ea typeface="Pretendard Bold"/>
              </a:rPr>
              <a:t>요구사항</a:t>
            </a:r>
            <a:r>
              <a:rPr lang="en-US" sz="7333" b="false" i="false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333" b="false" i="false" u="none" strike="noStrike">
                <a:solidFill>
                  <a:srgbClr val="180D0A"/>
                </a:solidFill>
                <a:ea typeface="Pretendard Bold"/>
              </a:rPr>
              <a:t>분석표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120100" y="5727700"/>
            <a:ext cx="952500" cy="952500"/>
          </a:xfrm>
          <a:prstGeom prst="rect">
            <a:avLst/>
          </a:prstGeom>
        </p:spPr>
      </p:pic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714500" y="4254500"/>
          <a:ext cx="20955000" cy="7899400"/>
        </p:xfrm>
        <a:graphic>
          <a:graphicData uri="http://schemas.openxmlformats.org/drawingml/2006/table">
            <a:tbl>
              <a:tblPr/>
              <a:tblGrid>
                <a:gridCol w="1871980"/>
                <a:gridCol w="2676748"/>
                <a:gridCol w="11659870"/>
                <a:gridCol w="4742598"/>
              </a:tblGrid>
              <a:tr h="80455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요구</a:t>
                      </a: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ID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유형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요구</a:t>
                      </a: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내용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요청자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</a:tr>
              <a:tr h="78880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R-001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기능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피부타입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선택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&amp;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원하는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취향의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성향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테스트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확인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기능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기획팀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/ UX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팀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880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R-002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성능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페이지에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리스트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목록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생성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(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속도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10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초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이내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백엔드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개발자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/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성능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테스트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담당자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880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R-003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보안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사용자의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피부타입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취향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데이터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암호화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저장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개인정보위원회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/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보안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담당자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880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R-004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UI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사용자가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별도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(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심리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검사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테스트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형태로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피부타입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구별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취향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파악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UI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디자인팀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/ UX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기획자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880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R-005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데이터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상시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추가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제품들도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사용자의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페이지에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실시간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업데이트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반영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데이터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엔지니어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/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운영팀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880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R-006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접근성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사용자의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원활한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테스트를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위한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구체적인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안내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추가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전달사항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제공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기획자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/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접근성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검토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위원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880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R-007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통계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구입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개수별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상위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선정하여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페이지에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우선순위별로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제공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데이터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분석가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/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마케팅팀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880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R-008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알고리즘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콘텐츠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기반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필터링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(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성분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사용감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선호도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에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따른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제공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AI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개발자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/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추천시스템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담당자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880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R-009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알림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이벤트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추가시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알림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신청한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사용자의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한에서만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실시간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알림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제공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운영팀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/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마케팅팀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DD3C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5900" y="558800"/>
            <a:ext cx="3771900" cy="2006600"/>
          </a:xfrm>
          <a:prstGeom prst="rect">
            <a:avLst/>
          </a:prstGeom>
        </p:spPr>
      </p:pic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752600" y="6096000"/>
          <a:ext cx="20866100" cy="4445000"/>
        </p:xfrm>
        <a:graphic>
          <a:graphicData uri="http://schemas.openxmlformats.org/drawingml/2006/table">
            <a:tbl>
              <a:tblPr/>
              <a:tblGrid>
                <a:gridCol w="1871980"/>
                <a:gridCol w="6548120"/>
                <a:gridCol w="1743612"/>
                <a:gridCol w="6456289"/>
                <a:gridCol w="4251960"/>
              </a:tblGrid>
              <a:tr h="992119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요구사항</a:t>
                      </a: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 ID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요구사항</a:t>
                      </a: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설명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우선순위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입력</a:t>
                      </a: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데이터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출력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</a:tr>
              <a:tr h="172665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RQ-01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2665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RQ-02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5829300" y="3822700"/>
            <a:ext cx="12738100" cy="1308100"/>
          </a:xfrm>
          <a:prstGeom prst="rect">
            <a:avLst/>
          </a:prstGeom>
        </p:spPr>
        <p:txBody>
          <a:bodyPr anchor="t" rtlCol="false" lIns="0" tIns="27939" rIns="0" bIns="0"/>
          <a:lstStyle/>
          <a:p>
            <a:pPr algn="ctr" lvl="0">
              <a:lnSpc>
                <a:spcPct val="111220"/>
              </a:lnSpc>
            </a:pPr>
            <a:r>
              <a:rPr lang="ko-KR" sz="7333" b="false" i="false" u="none" strike="noStrike">
                <a:solidFill>
                  <a:srgbClr val="180D0A"/>
                </a:solidFill>
                <a:ea typeface="Pretendard Bold"/>
              </a:rPr>
              <a:t>요구사항</a:t>
            </a:r>
            <a:r>
              <a:rPr lang="en-US" sz="7333" b="false" i="false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333" b="false" i="false" u="none" strike="noStrike">
                <a:solidFill>
                  <a:srgbClr val="180D0A"/>
                </a:solidFill>
                <a:ea typeface="Pretendard Bold"/>
              </a:rPr>
              <a:t>명세화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79600" y="762000"/>
            <a:ext cx="2971800" cy="1308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7333" b="false" i="false" u="none" strike="noStrike">
                <a:solidFill>
                  <a:srgbClr val="FFFFFF"/>
                </a:solidFill>
                <a:latin typeface="Pretendard SemiBold"/>
              </a:rPr>
              <a:t>01-02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DD3C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5900" y="558800"/>
            <a:ext cx="3771900" cy="2006600"/>
          </a:xfrm>
          <a:prstGeom prst="rect">
            <a:avLst/>
          </a:prstGeom>
        </p:spPr>
      </p:pic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2159000" y="4038600"/>
          <a:ext cx="20078700" cy="7785100"/>
        </p:xfrm>
        <a:graphic>
          <a:graphicData uri="http://schemas.openxmlformats.org/drawingml/2006/table">
            <a:tbl>
              <a:tblPr/>
              <a:tblGrid>
                <a:gridCol w="5894363"/>
                <a:gridCol w="14181797"/>
              </a:tblGrid>
              <a:tr h="846841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666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항목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666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내용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</a:tr>
              <a:tr h="1156801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799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Use Case </a:t>
                      </a:r>
                      <a:r>
                        <a:rPr lang="ko-KR" sz="2799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명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56801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개요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56801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사전조건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56801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기본</a:t>
                      </a:r>
                      <a:r>
                        <a:rPr lang="en-US" sz="2800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흐름</a:t>
                      </a:r>
                      <a:r>
                        <a:rPr lang="en-US" sz="2800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(Basic Flow)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56801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대안</a:t>
                      </a:r>
                      <a:r>
                        <a:rPr lang="en-US" sz="2800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흐름</a:t>
                      </a:r>
                      <a:r>
                        <a:rPr lang="en-US" sz="2800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(Alternative Flow)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56801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예외</a:t>
                      </a:r>
                      <a:r>
                        <a:rPr lang="en-US" sz="2800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흐름</a:t>
                      </a:r>
                      <a:r>
                        <a:rPr lang="en-US" sz="2800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(Exception Flow)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5816600" y="1460500"/>
            <a:ext cx="12738100" cy="2209800"/>
          </a:xfrm>
          <a:prstGeom prst="rect">
            <a:avLst/>
          </a:prstGeom>
        </p:spPr>
        <p:txBody>
          <a:bodyPr anchor="t" rtlCol="false" lIns="0" tIns="27939" rIns="0" bIns="0"/>
          <a:lstStyle/>
          <a:p>
            <a:pPr algn="ctr" lvl="0">
              <a:lnSpc>
                <a:spcPct val="111220"/>
              </a:lnSpc>
            </a:pPr>
            <a:r>
              <a:rPr lang="en-US" sz="7333" b="false" i="false" u="none" strike="noStrike">
                <a:solidFill>
                  <a:srgbClr val="180D0A"/>
                </a:solidFill>
                <a:latin typeface="Pretendard Bold"/>
              </a:rPr>
              <a:t>Use Case </a:t>
            </a:r>
            <a:r>
              <a:rPr lang="ko-KR" sz="7333" b="false" i="false" u="none" strike="noStrike">
                <a:solidFill>
                  <a:srgbClr val="180D0A"/>
                </a:solidFill>
                <a:ea typeface="Pretendard Bold"/>
              </a:rPr>
              <a:t>명세서</a:t>
            </a:r>
          </a:p>
          <a:p>
            <a:pPr algn="ctr" lvl="0">
              <a:lnSpc>
                <a:spcPct val="111220"/>
              </a:lnSpc>
            </a:pPr>
            <a:r>
              <a:rPr lang="en-US" sz="5333" b="false" i="false" u="none" strike="noStrike">
                <a:solidFill>
                  <a:srgbClr val="54443F"/>
                </a:solidFill>
                <a:latin typeface="Pretendard Bold"/>
              </a:rPr>
              <a:t>(</a:t>
            </a:r>
            <a:r>
              <a:rPr lang="ko-KR" sz="5333" b="false" i="false" u="none" strike="noStrike">
                <a:solidFill>
                  <a:srgbClr val="54443F"/>
                </a:solidFill>
                <a:ea typeface="Pretendard Bold"/>
              </a:rPr>
              <a:t>피부타입별</a:t>
            </a:r>
            <a:r>
              <a:rPr lang="en-US" sz="5333" b="false" i="false" u="none" strike="noStrike">
                <a:solidFill>
                  <a:srgbClr val="54443F"/>
                </a:solidFill>
                <a:latin typeface="Pretendard Bold"/>
              </a:rPr>
              <a:t> </a:t>
            </a:r>
            <a:r>
              <a:rPr lang="ko-KR" sz="5333" b="false" i="false" u="none" strike="noStrike">
                <a:solidFill>
                  <a:srgbClr val="54443F"/>
                </a:solidFill>
                <a:ea typeface="Pretendard Bold"/>
              </a:rPr>
              <a:t>상품</a:t>
            </a:r>
            <a:r>
              <a:rPr lang="en-US" sz="5333" b="false" i="false" u="none" strike="noStrike">
                <a:solidFill>
                  <a:srgbClr val="54443F"/>
                </a:solidFill>
                <a:latin typeface="Pretendard Bold"/>
              </a:rPr>
              <a:t> </a:t>
            </a:r>
            <a:r>
              <a:rPr lang="ko-KR" sz="5333" b="false" i="false" u="none" strike="noStrike">
                <a:solidFill>
                  <a:srgbClr val="54443F"/>
                </a:solidFill>
                <a:ea typeface="Pretendard Bold"/>
              </a:rPr>
              <a:t>추천</a:t>
            </a:r>
            <a:r>
              <a:rPr lang="en-US" sz="5333" b="false" i="false" u="none" strike="noStrike">
                <a:solidFill>
                  <a:srgbClr val="54443F"/>
                </a:solidFill>
                <a:latin typeface="Pretendard Bold"/>
              </a:rPr>
              <a:t>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79600" y="762000"/>
            <a:ext cx="2971800" cy="1308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7333" b="false" i="false" u="none" strike="noStrike">
                <a:solidFill>
                  <a:srgbClr val="FFFFFF"/>
                </a:solidFill>
                <a:latin typeface="Pretendard SemiBold"/>
              </a:rPr>
              <a:t>01-03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DD3C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5900" y="558800"/>
            <a:ext cx="3771900" cy="2006600"/>
          </a:xfrm>
          <a:prstGeom prst="rect">
            <a:avLst/>
          </a:prstGeom>
        </p:spPr>
      </p:pic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2159000" y="4038600"/>
          <a:ext cx="20078700" cy="7785100"/>
        </p:xfrm>
        <a:graphic>
          <a:graphicData uri="http://schemas.openxmlformats.org/drawingml/2006/table">
            <a:tbl>
              <a:tblPr/>
              <a:tblGrid>
                <a:gridCol w="5894363"/>
                <a:gridCol w="14181797"/>
              </a:tblGrid>
              <a:tr h="846841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666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항목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666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내용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</a:tr>
              <a:tr h="1156801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799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Use Case </a:t>
                      </a:r>
                      <a:r>
                        <a:rPr lang="ko-KR" sz="2799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명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56801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개요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56801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사전조건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56801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기본</a:t>
                      </a:r>
                      <a:r>
                        <a:rPr lang="en-US" sz="2800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흐름</a:t>
                      </a:r>
                      <a:r>
                        <a:rPr lang="en-US" sz="2800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(Basic Flow)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56801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대안</a:t>
                      </a:r>
                      <a:r>
                        <a:rPr lang="en-US" sz="2800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흐름</a:t>
                      </a:r>
                      <a:r>
                        <a:rPr lang="en-US" sz="2800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(Alternative Flow)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56801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예외</a:t>
                      </a:r>
                      <a:r>
                        <a:rPr lang="en-US" sz="2800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흐름</a:t>
                      </a:r>
                      <a:r>
                        <a:rPr lang="en-US" sz="2800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(Exception Flow)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5816600" y="1460500"/>
            <a:ext cx="12738100" cy="2209800"/>
          </a:xfrm>
          <a:prstGeom prst="rect">
            <a:avLst/>
          </a:prstGeom>
        </p:spPr>
        <p:txBody>
          <a:bodyPr anchor="t" rtlCol="false" lIns="0" tIns="27939" rIns="0" bIns="0"/>
          <a:lstStyle/>
          <a:p>
            <a:pPr algn="ctr" lvl="0">
              <a:lnSpc>
                <a:spcPct val="111220"/>
              </a:lnSpc>
            </a:pPr>
            <a:r>
              <a:rPr lang="en-US" sz="7333" b="false" i="false" u="none" strike="noStrike">
                <a:solidFill>
                  <a:srgbClr val="180D0A"/>
                </a:solidFill>
                <a:latin typeface="Pretendard Bold"/>
              </a:rPr>
              <a:t>Use Case </a:t>
            </a:r>
            <a:r>
              <a:rPr lang="ko-KR" sz="7333" b="false" i="false" u="none" strike="noStrike">
                <a:solidFill>
                  <a:srgbClr val="180D0A"/>
                </a:solidFill>
                <a:ea typeface="Pretendard Bold"/>
              </a:rPr>
              <a:t>명세서</a:t>
            </a:r>
          </a:p>
          <a:p>
            <a:pPr algn="ctr" lvl="0">
              <a:lnSpc>
                <a:spcPct val="111220"/>
              </a:lnSpc>
            </a:pPr>
            <a:r>
              <a:rPr lang="en-US" sz="5333" b="false" i="false" u="none" strike="noStrike">
                <a:solidFill>
                  <a:srgbClr val="54443F"/>
                </a:solidFill>
                <a:latin typeface="Pretendard Bold"/>
              </a:rPr>
              <a:t>(</a:t>
            </a:r>
            <a:r>
              <a:rPr lang="ko-KR" sz="5333" b="false" i="false" u="none" strike="noStrike">
                <a:solidFill>
                  <a:srgbClr val="54443F"/>
                </a:solidFill>
                <a:ea typeface="Pretendard Bold"/>
              </a:rPr>
              <a:t>사용자</a:t>
            </a:r>
            <a:r>
              <a:rPr lang="en-US" sz="5333" b="false" i="false" u="none" strike="noStrike">
                <a:solidFill>
                  <a:srgbClr val="54443F"/>
                </a:solidFill>
                <a:latin typeface="Pretendard Bold"/>
              </a:rPr>
              <a:t> </a:t>
            </a:r>
            <a:r>
              <a:rPr lang="ko-KR" sz="5333" b="false" i="false" u="none" strike="noStrike">
                <a:solidFill>
                  <a:srgbClr val="54443F"/>
                </a:solidFill>
                <a:ea typeface="Pretendard Bold"/>
              </a:rPr>
              <a:t>개인</a:t>
            </a:r>
            <a:r>
              <a:rPr lang="en-US" sz="5333" b="false" i="false" u="none" strike="noStrike">
                <a:solidFill>
                  <a:srgbClr val="54443F"/>
                </a:solidFill>
                <a:latin typeface="Pretendard Bold"/>
              </a:rPr>
              <a:t> </a:t>
            </a:r>
            <a:r>
              <a:rPr lang="ko-KR" sz="5333" b="false" i="false" u="none" strike="noStrike">
                <a:solidFill>
                  <a:srgbClr val="54443F"/>
                </a:solidFill>
                <a:ea typeface="Pretendard Bold"/>
              </a:rPr>
              <a:t>취향</a:t>
            </a:r>
            <a:r>
              <a:rPr lang="en-US" sz="5333" b="false" i="false" u="none" strike="noStrike">
                <a:solidFill>
                  <a:srgbClr val="54443F"/>
                </a:solidFill>
                <a:latin typeface="Pretendard Bold"/>
              </a:rPr>
              <a:t> </a:t>
            </a:r>
            <a:r>
              <a:rPr lang="ko-KR" sz="5333" b="false" i="false" u="none" strike="noStrike">
                <a:solidFill>
                  <a:srgbClr val="54443F"/>
                </a:solidFill>
                <a:ea typeface="Pretendard Bold"/>
              </a:rPr>
              <a:t>맞춤</a:t>
            </a:r>
            <a:r>
              <a:rPr lang="en-US" sz="5333" b="false" i="false" u="none" strike="noStrike">
                <a:solidFill>
                  <a:srgbClr val="54443F"/>
                </a:solidFill>
                <a:latin typeface="Pretendard Bold"/>
              </a:rPr>
              <a:t> </a:t>
            </a:r>
            <a:r>
              <a:rPr lang="ko-KR" sz="5333" b="false" i="false" u="none" strike="noStrike">
                <a:solidFill>
                  <a:srgbClr val="54443F"/>
                </a:solidFill>
                <a:ea typeface="Pretendard Bold"/>
              </a:rPr>
              <a:t>상품</a:t>
            </a:r>
            <a:r>
              <a:rPr lang="en-US" sz="5333" b="false" i="false" u="none" strike="noStrike">
                <a:solidFill>
                  <a:srgbClr val="54443F"/>
                </a:solidFill>
                <a:latin typeface="Pretendard Bold"/>
              </a:rPr>
              <a:t> </a:t>
            </a:r>
            <a:r>
              <a:rPr lang="ko-KR" sz="5333" b="false" i="false" u="none" strike="noStrike">
                <a:solidFill>
                  <a:srgbClr val="54443F"/>
                </a:solidFill>
                <a:ea typeface="Pretendard Bold"/>
              </a:rPr>
              <a:t>제공</a:t>
            </a:r>
            <a:r>
              <a:rPr lang="en-US" sz="5333" b="false" i="false" u="none" strike="noStrike">
                <a:solidFill>
                  <a:srgbClr val="54443F"/>
                </a:solidFill>
                <a:latin typeface="Pretendard Bold"/>
              </a:rPr>
              <a:t>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79600" y="762000"/>
            <a:ext cx="2971800" cy="1308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7333" b="false" i="false" u="none" strike="noStrike">
                <a:solidFill>
                  <a:srgbClr val="FFFFFF"/>
                </a:solidFill>
                <a:latin typeface="Pretendard SemiBold"/>
              </a:rPr>
              <a:t>01-03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DD3C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5900" y="558800"/>
            <a:ext cx="3771900" cy="2006600"/>
          </a:xfrm>
          <a:prstGeom prst="rect">
            <a:avLst/>
          </a:prstGeom>
        </p:spPr>
      </p:pic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2159000" y="4038600"/>
          <a:ext cx="20078700" cy="8432800"/>
        </p:xfrm>
        <a:graphic>
          <a:graphicData uri="http://schemas.openxmlformats.org/drawingml/2006/table">
            <a:tbl>
              <a:tblPr/>
              <a:tblGrid>
                <a:gridCol w="5894363"/>
                <a:gridCol w="14181797"/>
              </a:tblGrid>
              <a:tr h="846841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666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항목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666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내용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</a:tr>
              <a:tr h="108311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799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목적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8311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사전조건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8311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입력</a:t>
                      </a:r>
                      <a:r>
                        <a:rPr lang="en-US" sz="2800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데이터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8311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실행</a:t>
                      </a:r>
                      <a:r>
                        <a:rPr lang="en-US" sz="2800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절차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8311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기대</a:t>
                      </a:r>
                      <a:r>
                        <a:rPr lang="en-US" sz="2800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결과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8311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실제</a:t>
                      </a:r>
                      <a:r>
                        <a:rPr lang="en-US" sz="2800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결과</a:t>
                      </a:r>
                      <a:r>
                        <a:rPr lang="en-US" sz="2800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(</a:t>
                      </a:r>
                      <a:r>
                        <a:rPr lang="ko-KR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테스트</a:t>
                      </a:r>
                      <a:r>
                        <a:rPr lang="en-US" sz="2800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시</a:t>
                      </a:r>
                      <a:r>
                        <a:rPr lang="en-US" sz="2800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기록</a:t>
                      </a:r>
                      <a:r>
                        <a:rPr lang="en-US" sz="2800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)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8311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판정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5816600" y="1460500"/>
            <a:ext cx="12738100" cy="2209800"/>
          </a:xfrm>
          <a:prstGeom prst="rect">
            <a:avLst/>
          </a:prstGeom>
        </p:spPr>
        <p:txBody>
          <a:bodyPr anchor="t" rtlCol="false" lIns="0" tIns="27939" rIns="0" bIns="0"/>
          <a:lstStyle/>
          <a:p>
            <a:pPr algn="ctr" lvl="0">
              <a:lnSpc>
                <a:spcPct val="111220"/>
              </a:lnSpc>
            </a:pPr>
            <a:r>
              <a:rPr lang="ko-KR" sz="7333" b="false" i="false" u="none" strike="noStrike">
                <a:solidFill>
                  <a:srgbClr val="180D0A"/>
                </a:solidFill>
                <a:ea typeface="Pretendard Bold"/>
              </a:rPr>
              <a:t>검증</a:t>
            </a:r>
            <a:r>
              <a:rPr lang="en-US" sz="7333" b="false" i="false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333" b="false" i="false" u="none" strike="noStrike">
                <a:solidFill>
                  <a:srgbClr val="180D0A"/>
                </a:solidFill>
                <a:ea typeface="Pretendard Bold"/>
              </a:rPr>
              <a:t>기법</a:t>
            </a:r>
            <a:r>
              <a:rPr lang="en-US" sz="7333" b="false" i="false" u="none" strike="noStrike">
                <a:solidFill>
                  <a:srgbClr val="180D0A"/>
                </a:solidFill>
                <a:latin typeface="Pretendard Bold"/>
              </a:rPr>
              <a:t>: </a:t>
            </a:r>
            <a:r>
              <a:rPr lang="ko-KR" sz="7333" b="false" i="false" u="none" strike="noStrike">
                <a:solidFill>
                  <a:srgbClr val="180D0A"/>
                </a:solidFill>
                <a:ea typeface="Pretendard Bold"/>
              </a:rPr>
              <a:t>검토</a:t>
            </a:r>
          </a:p>
          <a:p>
            <a:pPr algn="ctr" lvl="0">
              <a:lnSpc>
                <a:spcPct val="111220"/>
              </a:lnSpc>
            </a:pPr>
            <a:r>
              <a:rPr lang="en" sz="5333" b="false" i="false" u="none" strike="noStrike">
                <a:solidFill>
                  <a:srgbClr val="54443F"/>
                </a:solidFill>
                <a:latin typeface="Pretendard Bold"/>
              </a:rPr>
              <a:t>(Test Case ID: TC-01)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79600" y="762000"/>
            <a:ext cx="2971800" cy="1308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7333" b="false" i="false" u="none" strike="noStrike">
                <a:solidFill>
                  <a:srgbClr val="FFFFFF"/>
                </a:solidFill>
                <a:latin typeface="Pretendard SemiBold"/>
              </a:rPr>
              <a:t>01-04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DD3C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5900" y="558800"/>
            <a:ext cx="3771900" cy="2006600"/>
          </a:xfrm>
          <a:prstGeom prst="rect">
            <a:avLst/>
          </a:prstGeom>
        </p:spPr>
      </p:pic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2159000" y="4038600"/>
          <a:ext cx="20078700" cy="8432800"/>
        </p:xfrm>
        <a:graphic>
          <a:graphicData uri="http://schemas.openxmlformats.org/drawingml/2006/table">
            <a:tbl>
              <a:tblPr/>
              <a:tblGrid>
                <a:gridCol w="5894363"/>
                <a:gridCol w="14181797"/>
              </a:tblGrid>
              <a:tr h="846841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666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항목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666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내용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</a:tr>
              <a:tr h="108311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799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목적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8311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사전조건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8311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입력</a:t>
                      </a:r>
                      <a:r>
                        <a:rPr lang="en-US" sz="2800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데이터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8311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실행</a:t>
                      </a:r>
                      <a:r>
                        <a:rPr lang="en-US" sz="2800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절차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8311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기대</a:t>
                      </a:r>
                      <a:r>
                        <a:rPr lang="en-US" sz="2800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결과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8311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실제</a:t>
                      </a:r>
                      <a:r>
                        <a:rPr lang="en-US" sz="2800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결과</a:t>
                      </a:r>
                      <a:r>
                        <a:rPr lang="en-US" sz="2800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(</a:t>
                      </a:r>
                      <a:r>
                        <a:rPr lang="ko-KR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테스트</a:t>
                      </a:r>
                      <a:r>
                        <a:rPr lang="en-US" sz="2800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시</a:t>
                      </a:r>
                      <a:r>
                        <a:rPr lang="en-US" sz="2800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기록</a:t>
                      </a:r>
                      <a:r>
                        <a:rPr lang="en-US" sz="2800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)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8311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800" b="false" i="false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판정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5816600" y="1460500"/>
            <a:ext cx="12738100" cy="2209800"/>
          </a:xfrm>
          <a:prstGeom prst="rect">
            <a:avLst/>
          </a:prstGeom>
        </p:spPr>
        <p:txBody>
          <a:bodyPr anchor="t" rtlCol="false" lIns="0" tIns="27939" rIns="0" bIns="0"/>
          <a:lstStyle/>
          <a:p>
            <a:pPr algn="ctr" lvl="0">
              <a:lnSpc>
                <a:spcPct val="111220"/>
              </a:lnSpc>
            </a:pPr>
            <a:r>
              <a:rPr lang="ko-KR" sz="7333" b="false" i="false" u="none" strike="noStrike">
                <a:solidFill>
                  <a:srgbClr val="180D0A"/>
                </a:solidFill>
                <a:ea typeface="Pretendard Bold"/>
              </a:rPr>
              <a:t>검증</a:t>
            </a:r>
            <a:r>
              <a:rPr lang="en-US" sz="7333" b="false" i="false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333" b="false" i="false" u="none" strike="noStrike">
                <a:solidFill>
                  <a:srgbClr val="180D0A"/>
                </a:solidFill>
                <a:ea typeface="Pretendard Bold"/>
              </a:rPr>
              <a:t>기법</a:t>
            </a:r>
            <a:r>
              <a:rPr lang="en-US" sz="7333" b="false" i="false" u="none" strike="noStrike">
                <a:solidFill>
                  <a:srgbClr val="180D0A"/>
                </a:solidFill>
                <a:latin typeface="Pretendard Bold"/>
              </a:rPr>
              <a:t>: </a:t>
            </a:r>
            <a:r>
              <a:rPr lang="ko-KR" sz="7333" b="false" i="false" u="none" strike="noStrike">
                <a:solidFill>
                  <a:srgbClr val="180D0A"/>
                </a:solidFill>
                <a:ea typeface="Pretendard Bold"/>
              </a:rPr>
              <a:t>검토</a:t>
            </a:r>
          </a:p>
          <a:p>
            <a:pPr algn="ctr" lvl="0">
              <a:lnSpc>
                <a:spcPct val="111220"/>
              </a:lnSpc>
            </a:pPr>
            <a:r>
              <a:rPr lang="en" sz="5333" b="false" i="false" u="none" strike="noStrike">
                <a:solidFill>
                  <a:srgbClr val="54443F"/>
                </a:solidFill>
                <a:latin typeface="Pretendard Bold"/>
              </a:rPr>
              <a:t>(Test Case ID: TC-02)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79600" y="762000"/>
            <a:ext cx="2971800" cy="1308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7333" b="false" i="false" u="none" strike="noStrike">
                <a:solidFill>
                  <a:srgbClr val="FFFFFF"/>
                </a:solidFill>
                <a:latin typeface="Pretendard SemiBold"/>
              </a:rPr>
              <a:t>01-04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DD3C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5900" y="558800"/>
            <a:ext cx="3771900" cy="2006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829300" y="2197100"/>
            <a:ext cx="12738100" cy="1308100"/>
          </a:xfrm>
          <a:prstGeom prst="rect">
            <a:avLst/>
          </a:prstGeom>
        </p:spPr>
        <p:txBody>
          <a:bodyPr anchor="t" rtlCol="false" lIns="0" tIns="93131" rIns="0" bIns="0"/>
          <a:lstStyle/>
          <a:p>
            <a:pPr algn="ctr" lvl="0">
              <a:lnSpc>
                <a:spcPct val="99600"/>
              </a:lnSpc>
            </a:pPr>
            <a:r>
              <a:rPr lang="ko-KR" sz="7333" b="false" i="false" u="none" strike="noStrike">
                <a:solidFill>
                  <a:srgbClr val="180D0A"/>
                </a:solidFill>
                <a:ea typeface="Pretendard Bold"/>
              </a:rPr>
              <a:t>후보</a:t>
            </a:r>
            <a:r>
              <a:rPr lang="en-US" sz="7333" b="false" i="false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333" b="false" i="false" u="none" strike="noStrike">
                <a:solidFill>
                  <a:srgbClr val="180D0A"/>
                </a:solidFill>
                <a:ea typeface="Pretendard Bold"/>
              </a:rPr>
              <a:t>데이터</a:t>
            </a:r>
            <a:r>
              <a:rPr lang="en-US" sz="7333" b="false" i="false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333" b="false" i="false" u="none" strike="noStrike">
                <a:solidFill>
                  <a:srgbClr val="180D0A"/>
                </a:solidFill>
                <a:ea typeface="Pretendard Bold"/>
              </a:rPr>
              <a:t>수집</a:t>
            </a:r>
            <a:r>
              <a:rPr lang="en-US" sz="7333" b="false" i="false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333" b="false" i="false" u="none" strike="noStrike">
                <a:solidFill>
                  <a:srgbClr val="180D0A"/>
                </a:solidFill>
                <a:ea typeface="Pretendard Bold"/>
              </a:rPr>
              <a:t>방식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485900" y="4127500"/>
          <a:ext cx="21412200" cy="8178800"/>
        </p:xfrm>
        <a:graphic>
          <a:graphicData uri="http://schemas.openxmlformats.org/drawingml/2006/table">
            <a:tbl>
              <a:tblPr/>
              <a:tblGrid>
                <a:gridCol w="904962"/>
                <a:gridCol w="4100797"/>
                <a:gridCol w="4521842"/>
                <a:gridCol w="3551608"/>
                <a:gridCol w="3588220"/>
                <a:gridCol w="4741517"/>
              </a:tblGrid>
              <a:tr h="80802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번호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후보</a:t>
                      </a: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데이터</a:t>
                      </a: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항목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수집</a:t>
                      </a: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경로</a:t>
                      </a:r>
                      <a:br>
                        <a:rPr lang="ko-KR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</a:b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수집</a:t>
                      </a: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방식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수집</a:t>
                      </a: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주기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활용</a:t>
                      </a: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목적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</a:tr>
              <a:tr h="122903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1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피부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타입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정보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분석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진단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테스트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페이지를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통해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입력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설문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입력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(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라디오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버튼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1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회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(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필요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시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수정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가능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피부에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적합한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필터링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2903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2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정보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(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성분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타입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등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화장품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제조사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웹사이트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공공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API </a:t>
                      </a:r>
                      <a:endParaRPr lang="en-US" sz="1100"/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(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예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: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식약처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화해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등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크롤링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API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연동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주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1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회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이상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업데이트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특성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매칭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정확도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향상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2903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3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행동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데이터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 </a:t>
                      </a:r>
                      <a:endParaRPr lang="en-US" sz="1100"/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(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조회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장바구니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DAYFUL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플랫폼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내부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로그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자동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로그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수집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실시간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취향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분석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협업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필터링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2903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4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리뷰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평점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DAYFUL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내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리뷰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시스템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직접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입력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실시간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감성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분석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리뷰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기반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2903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5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트렌드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키워드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(SNS,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커뮤니티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등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인스타그램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유튜브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뷰티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커뮤니티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크롤링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키워드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추출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주간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유행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반영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실시간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인기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2903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6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성분에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대한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선호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/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비선호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정보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회원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설정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or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설문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다중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선택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입력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1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회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(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수정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가능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기피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성분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필터링으로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만족도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향상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2590800" y="762000"/>
            <a:ext cx="1562100" cy="14224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8000" b="false" i="false" u="none" strike="noStrike">
                <a:solidFill>
                  <a:srgbClr val="FFFFFF"/>
                </a:solidFill>
                <a:latin typeface="Pretendard SemiBold"/>
              </a:rPr>
              <a:t>02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DD3C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5900" y="558800"/>
            <a:ext cx="3771900" cy="2006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829300" y="1816100"/>
            <a:ext cx="12738100" cy="1308100"/>
          </a:xfrm>
          <a:prstGeom prst="rect">
            <a:avLst/>
          </a:prstGeom>
        </p:spPr>
        <p:txBody>
          <a:bodyPr anchor="t" rtlCol="false" lIns="0" tIns="93131" rIns="0" bIns="0"/>
          <a:lstStyle/>
          <a:p>
            <a:pPr algn="ctr" lvl="0">
              <a:lnSpc>
                <a:spcPct val="99600"/>
              </a:lnSpc>
            </a:pPr>
            <a:r>
              <a:rPr lang="ko-KR" sz="7333" b="false" i="false" u="none" strike="noStrike">
                <a:solidFill>
                  <a:srgbClr val="180D0A"/>
                </a:solidFill>
                <a:ea typeface="Pretendard Bold"/>
              </a:rPr>
              <a:t>개념적</a:t>
            </a:r>
            <a:r>
              <a:rPr lang="en-US" sz="7333" b="false" i="false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333" b="false" i="false" u="none" strike="noStrike">
                <a:solidFill>
                  <a:srgbClr val="180D0A"/>
                </a:solidFill>
                <a:ea typeface="Pretendard Bold"/>
              </a:rPr>
              <a:t>설계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485900" y="3683000"/>
          <a:ext cx="21386800" cy="8077200"/>
        </p:xfrm>
        <a:graphic>
          <a:graphicData uri="http://schemas.openxmlformats.org/drawingml/2006/table">
            <a:tbl>
              <a:tblPr/>
              <a:tblGrid>
                <a:gridCol w="904962"/>
                <a:gridCol w="3678766"/>
                <a:gridCol w="7026423"/>
                <a:gridCol w="7026423"/>
                <a:gridCol w="2749550"/>
              </a:tblGrid>
              <a:tr h="80802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번호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엔터티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핵심</a:t>
                      </a: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속성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관계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비고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</a:tr>
              <a:tr h="80700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1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700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2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700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3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700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4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700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5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700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6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700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7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700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8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700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9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879600" y="762000"/>
            <a:ext cx="2971800" cy="1308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7333" b="false" i="false" u="none" strike="noStrike">
                <a:solidFill>
                  <a:srgbClr val="FFFFFF"/>
                </a:solidFill>
                <a:latin typeface="Pretendard SemiBold"/>
              </a:rPr>
              <a:t>02-01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DD3C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5900" y="558800"/>
            <a:ext cx="3771900" cy="2006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829300" y="1816100"/>
            <a:ext cx="12738100" cy="1308100"/>
          </a:xfrm>
          <a:prstGeom prst="rect">
            <a:avLst/>
          </a:prstGeom>
        </p:spPr>
        <p:txBody>
          <a:bodyPr anchor="t" rtlCol="false" lIns="0" tIns="93131" rIns="0" bIns="0"/>
          <a:lstStyle/>
          <a:p>
            <a:pPr algn="ctr" lvl="0">
              <a:lnSpc>
                <a:spcPct val="99600"/>
              </a:lnSpc>
            </a:pPr>
            <a:r>
              <a:rPr lang="ko-KR" sz="7333" b="false" i="false" u="none" strike="noStrike">
                <a:solidFill>
                  <a:srgbClr val="180D0A"/>
                </a:solidFill>
                <a:ea typeface="Pretendard Bold"/>
              </a:rPr>
              <a:t>논리적</a:t>
            </a:r>
            <a:r>
              <a:rPr lang="en-US" sz="7333" b="false" i="false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333" b="false" i="false" u="none" strike="noStrike">
                <a:solidFill>
                  <a:srgbClr val="180D0A"/>
                </a:solidFill>
                <a:ea typeface="Pretendard Bold"/>
              </a:rPr>
              <a:t>설계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485900" y="3683000"/>
          <a:ext cx="21386800" cy="8077200"/>
        </p:xfrm>
        <a:graphic>
          <a:graphicData uri="http://schemas.openxmlformats.org/drawingml/2006/table">
            <a:tbl>
              <a:tblPr/>
              <a:tblGrid>
                <a:gridCol w="881516"/>
                <a:gridCol w="3702212"/>
                <a:gridCol w="7026423"/>
                <a:gridCol w="7026423"/>
                <a:gridCol w="2749550"/>
              </a:tblGrid>
              <a:tr h="80802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번호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엔터티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핵심</a:t>
                      </a: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속성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관계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비고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</a:tr>
              <a:tr h="80700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1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700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2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700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3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700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4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700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5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700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6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700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7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700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8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700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9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841500" y="749300"/>
            <a:ext cx="3073400" cy="1308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7333" b="false" i="false" u="none" strike="noStrike">
                <a:solidFill>
                  <a:srgbClr val="FFFFFF"/>
                </a:solidFill>
                <a:latin typeface="Pretendard SemiBold"/>
              </a:rPr>
              <a:t>02-02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DD3C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5900" y="558800"/>
            <a:ext cx="3771900" cy="2006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829300" y="2120900"/>
            <a:ext cx="12738100" cy="1308100"/>
          </a:xfrm>
          <a:prstGeom prst="rect">
            <a:avLst/>
          </a:prstGeom>
        </p:spPr>
        <p:txBody>
          <a:bodyPr anchor="t" rtlCol="false" lIns="0" tIns="93131" rIns="0" bIns="0"/>
          <a:lstStyle/>
          <a:p>
            <a:pPr algn="ctr" lvl="0">
              <a:lnSpc>
                <a:spcPct val="99600"/>
              </a:lnSpc>
            </a:pPr>
            <a:r>
              <a:rPr lang="ko-KR" sz="7333" b="false" i="false" u="none" strike="noStrike">
                <a:solidFill>
                  <a:srgbClr val="180D0A"/>
                </a:solidFill>
                <a:ea typeface="Pretendard Bold"/>
              </a:rPr>
              <a:t>외부</a:t>
            </a:r>
            <a:r>
              <a:rPr lang="en-US" sz="7333" b="false" i="false" u="none" strike="noStrike">
                <a:solidFill>
                  <a:srgbClr val="180D0A"/>
                </a:solidFill>
                <a:latin typeface="Pretendard Bold"/>
              </a:rPr>
              <a:t> Open API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600200" y="3911600"/>
          <a:ext cx="21183600" cy="8077200"/>
        </p:xfrm>
        <a:graphic>
          <a:graphicData uri="http://schemas.openxmlformats.org/drawingml/2006/table">
            <a:tbl>
              <a:tblPr/>
              <a:tblGrid>
                <a:gridCol w="904962"/>
                <a:gridCol w="3561535"/>
                <a:gridCol w="4259777"/>
                <a:gridCol w="1844823"/>
                <a:gridCol w="6336812"/>
                <a:gridCol w="4273550"/>
              </a:tblGrid>
              <a:tr h="80802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번호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제공처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API / </a:t>
                      </a:r>
                      <a:r>
                        <a:rPr lang="ko-KR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엔드포인트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메서드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Base URL · Endpoint(</a:t>
                      </a:r>
                      <a:r>
                        <a:rPr lang="ko-KR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예시</a:t>
                      </a: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)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비고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</a:tr>
              <a:tr h="80700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1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700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2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700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3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700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4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700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5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700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6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700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7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700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8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700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9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841500" y="762000"/>
            <a:ext cx="3073400" cy="1308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7333" b="false" i="false" u="none" strike="noStrike">
                <a:solidFill>
                  <a:srgbClr val="FFFFFF"/>
                </a:solidFill>
                <a:latin typeface="Pretendard SemiBold"/>
              </a:rPr>
              <a:t>02-03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DD3C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5900" y="558800"/>
            <a:ext cx="3771900" cy="2006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829300" y="1358900"/>
            <a:ext cx="12738100" cy="1308100"/>
          </a:xfrm>
          <a:prstGeom prst="rect">
            <a:avLst/>
          </a:prstGeom>
        </p:spPr>
        <p:txBody>
          <a:bodyPr anchor="t" rtlCol="false" lIns="0" tIns="93131" rIns="0" bIns="0"/>
          <a:lstStyle/>
          <a:p>
            <a:pPr algn="ctr" lvl="0">
              <a:lnSpc>
                <a:spcPct val="99600"/>
              </a:lnSpc>
            </a:pPr>
            <a:r>
              <a:rPr lang="ko-KR" sz="7333" b="false" i="false" u="none" strike="noStrike">
                <a:solidFill>
                  <a:srgbClr val="180D0A"/>
                </a:solidFill>
                <a:ea typeface="Pretendard Bold"/>
              </a:rPr>
              <a:t>내부</a:t>
            </a:r>
            <a:r>
              <a:rPr lang="en-US" sz="7333" b="false" i="false" u="none" strike="noStrike">
                <a:solidFill>
                  <a:srgbClr val="180D0A"/>
                </a:solidFill>
                <a:latin typeface="Pretendard Bold"/>
              </a:rPr>
              <a:t> Open API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435100" y="3048000"/>
          <a:ext cx="21501100" cy="9550400"/>
        </p:xfrm>
        <a:graphic>
          <a:graphicData uri="http://schemas.openxmlformats.org/drawingml/2006/table">
            <a:tbl>
              <a:tblPr/>
              <a:tblGrid>
                <a:gridCol w="2485097"/>
                <a:gridCol w="3392270"/>
                <a:gridCol w="1586916"/>
                <a:gridCol w="5728091"/>
                <a:gridCol w="5728091"/>
                <a:gridCol w="2585427"/>
              </a:tblGrid>
              <a:tr h="80802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시스템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API / </a:t>
                      </a:r>
                      <a:r>
                        <a:rPr lang="ko-KR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엔드포인트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메서드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요청</a:t>
                      </a: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파라미터</a:t>
                      </a: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/ </a:t>
                      </a:r>
                      <a:r>
                        <a:rPr lang="ko-KR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바디</a:t>
                      </a: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(</a:t>
                      </a:r>
                      <a:r>
                        <a:rPr lang="ko-KR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타입</a:t>
                      </a: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)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반환</a:t>
                      </a: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자료형</a:t>
                      </a: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(</a:t>
                      </a:r>
                      <a:r>
                        <a:rPr lang="ko-KR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타입</a:t>
                      </a:r>
                      <a:r>
                        <a:rPr lang="en-US" sz="2133" b="false" i="false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)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비고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</a:tr>
              <a:tr h="437082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수집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API GW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7082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수집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API GW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841500" y="762000"/>
            <a:ext cx="3073400" cy="1308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7333" b="false" i="false" u="none" strike="noStrike">
                <a:solidFill>
                  <a:srgbClr val="FFFFFF"/>
                </a:solidFill>
                <a:latin typeface="Pretendard SemiBold"/>
              </a:rPr>
              <a:t>02-04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DD3C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5900" y="558800"/>
            <a:ext cx="3771900" cy="2006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829300" y="1244600"/>
            <a:ext cx="12725400" cy="1257300"/>
          </a:xfrm>
          <a:prstGeom prst="rect">
            <a:avLst/>
          </a:prstGeom>
        </p:spPr>
        <p:txBody>
          <a:bodyPr anchor="t" rtlCol="false" lIns="0" tIns="89744" rIns="0" bIns="0"/>
          <a:lstStyle/>
          <a:p>
            <a:pPr algn="ctr" lvl="0">
              <a:lnSpc>
                <a:spcPct val="99600"/>
              </a:lnSpc>
            </a:pPr>
            <a:r>
              <a:rPr lang="ko-KR" sz="7066" b="false" i="false" u="none" strike="noStrike">
                <a:solidFill>
                  <a:srgbClr val="180D0A"/>
                </a:solidFill>
                <a:ea typeface="Pretendard Bold"/>
              </a:rPr>
              <a:t>데이터</a:t>
            </a:r>
            <a:r>
              <a:rPr lang="en-US" sz="7066" b="false" i="false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066" b="false" i="false" u="none" strike="noStrike">
                <a:solidFill>
                  <a:srgbClr val="180D0A"/>
                </a:solidFill>
                <a:ea typeface="Pretendard Bold"/>
              </a:rPr>
              <a:t>분석</a:t>
            </a:r>
            <a:r>
              <a:rPr lang="en-US" sz="7066" b="false" i="false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066" b="false" i="false" u="none" strike="noStrike">
                <a:solidFill>
                  <a:srgbClr val="180D0A"/>
                </a:solidFill>
                <a:ea typeface="Pretendard Bold"/>
              </a:rPr>
              <a:t>기획</a:t>
            </a:r>
            <a:r>
              <a:rPr lang="en-US" sz="7066" b="false" i="false" u="none" strike="noStrike">
                <a:solidFill>
                  <a:srgbClr val="180D0A"/>
                </a:solidFill>
                <a:latin typeface="Pretendard Bold"/>
              </a:rPr>
              <a:t> (</a:t>
            </a:r>
            <a:r>
              <a:rPr lang="ko-KR" sz="7066" b="false" i="false" u="none" strike="noStrike">
                <a:solidFill>
                  <a:srgbClr val="180D0A"/>
                </a:solidFill>
                <a:ea typeface="Pretendard Bold"/>
              </a:rPr>
              <a:t>분류</a:t>
            </a:r>
            <a:r>
              <a:rPr lang="en-US" sz="7066" b="false" i="false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066" b="false" i="false" u="none" strike="noStrike">
                <a:solidFill>
                  <a:srgbClr val="180D0A"/>
                </a:solidFill>
                <a:ea typeface="Pretendard Bold"/>
              </a:rPr>
              <a:t>기반</a:t>
            </a:r>
            <a:r>
              <a:rPr lang="en-US" sz="7066" b="false" i="false" u="none" strike="noStrike">
                <a:solidFill>
                  <a:srgbClr val="180D0A"/>
                </a:solidFill>
                <a:latin typeface="Pretendard Bold"/>
              </a:rPr>
              <a:t>)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651000" y="2819400"/>
          <a:ext cx="21082000" cy="9944100"/>
        </p:xfrm>
        <a:graphic>
          <a:graphicData uri="http://schemas.openxmlformats.org/drawingml/2006/table">
            <a:tbl>
              <a:tblPr/>
              <a:tblGrid>
                <a:gridCol w="916453"/>
                <a:gridCol w="3632120"/>
                <a:gridCol w="16533825"/>
              </a:tblGrid>
              <a:tr h="597009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번호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구분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내용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</a:tr>
              <a:tr h="85724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1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분석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목적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범위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목적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: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관광객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리뷰와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행동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데이터를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활용해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관광지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만족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여부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(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만족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/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불만족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를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예측</a:t>
                      </a:r>
                      <a:endParaRPr lang="en-US" sz="1100"/>
                    </a:p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범위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: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연령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체류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시간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리뷰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감성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점수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방문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빈도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등을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변수로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활용</a:t>
                      </a:r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176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2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분류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분석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기법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선정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기본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모델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: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로지스틱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회귀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(Logistic Regression)</a:t>
                      </a:r>
                      <a:endParaRPr lang="en-US" sz="1100"/>
                    </a:p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고급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모델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: Random Forest, SVM, Neural Network</a:t>
                      </a:r>
                    </a:p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활용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방식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: “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만족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”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으로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분류된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관광지를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사용자에게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우선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512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3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분석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절차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프로세스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1999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문제</a:t>
                      </a:r>
                      <a:r>
                        <a:rPr lang="en-US" sz="1999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1999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정의</a:t>
                      </a:r>
                      <a:r>
                        <a:rPr lang="en-US" sz="1999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(Problem Definition)</a:t>
                      </a:r>
                      <a:endParaRPr lang="en-US" sz="1100"/>
                    </a:p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1999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데이터</a:t>
                      </a:r>
                      <a:r>
                        <a:rPr lang="en-US" sz="1999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1999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수집</a:t>
                      </a:r>
                      <a:r>
                        <a:rPr lang="en-US" sz="1999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(Data Collection)</a:t>
                      </a:r>
                    </a:p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1999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데이터</a:t>
                      </a:r>
                      <a:r>
                        <a:rPr lang="en-US" sz="1999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1999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전처리</a:t>
                      </a:r>
                      <a:r>
                        <a:rPr lang="en-US" sz="1999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(Data Preprocessing)</a:t>
                      </a:r>
                    </a:p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1999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탐색적</a:t>
                      </a:r>
                      <a:r>
                        <a:rPr lang="en-US" sz="1999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1999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데이터</a:t>
                      </a:r>
                      <a:r>
                        <a:rPr lang="en-US" sz="1999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1999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분석</a:t>
                      </a:r>
                      <a:r>
                        <a:rPr lang="en-US" sz="1999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(EDA)</a:t>
                      </a:r>
                    </a:p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1999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데이터</a:t>
                      </a:r>
                      <a:r>
                        <a:rPr lang="en-US" sz="1999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1999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분할</a:t>
                      </a:r>
                      <a:r>
                        <a:rPr lang="en-US" sz="1999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(Train/Test Split)</a:t>
                      </a:r>
                    </a:p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1999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모델</a:t>
                      </a:r>
                      <a:r>
                        <a:rPr lang="en-US" sz="1999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1999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선택</a:t>
                      </a:r>
                      <a:r>
                        <a:rPr lang="en-US" sz="1999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1999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1999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1999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학습</a:t>
                      </a:r>
                      <a:r>
                        <a:rPr lang="en-US" sz="1999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(Model Training)</a:t>
                      </a:r>
                    </a:p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1999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모델</a:t>
                      </a:r>
                      <a:r>
                        <a:rPr lang="en-US" sz="1999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1999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평가</a:t>
                      </a:r>
                      <a:r>
                        <a:rPr lang="en-US" sz="1999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(Model Evaluation)</a:t>
                      </a:r>
                    </a:p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1999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모델</a:t>
                      </a:r>
                      <a:r>
                        <a:rPr lang="en-US" sz="1999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1999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개선</a:t>
                      </a:r>
                      <a:r>
                        <a:rPr lang="en-US" sz="1999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(Model Optimization)</a:t>
                      </a:r>
                    </a:p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1999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모델</a:t>
                      </a:r>
                      <a:r>
                        <a:rPr lang="en-US" sz="1999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1999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배포</a:t>
                      </a:r>
                      <a:r>
                        <a:rPr lang="en-US" sz="1999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1999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1999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1999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활용</a:t>
                      </a:r>
                      <a:r>
                        <a:rPr lang="en-US" sz="1999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(Deployment)</a:t>
                      </a:r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17602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4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분석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도구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환경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언어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/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라이브러리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: Python (scikit-learn, TensorFlow, Keras)</a:t>
                      </a:r>
                      <a:endParaRPr lang="en-US" sz="1100"/>
                    </a:p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환경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: Jupyter Notebook, Colab</a:t>
                      </a:r>
                    </a:p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시각화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/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설명가능성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: matplotlib, seaborn, SHAP/LIME(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특징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중요도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·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국소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설명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176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5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성능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평가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지표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Accuracy(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정확도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), Precision, Recall, F1-Score(macro/weighted)</a:t>
                      </a:r>
                      <a:endParaRPr lang="en-US" sz="1100"/>
                    </a:p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ROC-AUC(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이진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/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다중클래스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OvR), PR-AUC(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불균형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데이터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권장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</a:p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Confusion Matrix, KS-Statistic(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선택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176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6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기대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효과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만족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/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불만족을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이진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분류로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신속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·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직관적으로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파악하여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맞춤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품질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향상</a:t>
                      </a:r>
                      <a:endParaRPr lang="en-US" sz="1100"/>
                    </a:p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불만족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예측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고객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선제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케어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(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보상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/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대안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이탈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방지</a:t>
                      </a:r>
                    </a:p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마케팅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·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정책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의사결정에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활용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가능한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세그먼트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기반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인사이트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제공</a:t>
                      </a:r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3462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7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결론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분류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기반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모델로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관광객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만족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여부를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예측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·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활용하는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기획을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제시하였다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.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운영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단계에서는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데이터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불균형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처리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(SMOTE/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가중치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),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모델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설명가능성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(SHAP),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성능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·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드리프트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모니터링을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포함해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지속적으로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관리한다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.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2578100" y="762000"/>
            <a:ext cx="1600200" cy="14224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8000" b="false" i="false" u="none" strike="noStrike">
                <a:solidFill>
                  <a:srgbClr val="FFFFFF"/>
                </a:solidFill>
                <a:latin typeface="Pretendard SemiBold"/>
              </a:rPr>
              <a:t>03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DD3C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5900" y="558800"/>
            <a:ext cx="3771900" cy="2006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829300" y="1473200"/>
            <a:ext cx="12725400" cy="1257300"/>
          </a:xfrm>
          <a:prstGeom prst="rect">
            <a:avLst/>
          </a:prstGeom>
        </p:spPr>
        <p:txBody>
          <a:bodyPr anchor="t" rtlCol="false" lIns="0" tIns="89744" rIns="0" bIns="0"/>
          <a:lstStyle/>
          <a:p>
            <a:pPr algn="ctr" lvl="0">
              <a:lnSpc>
                <a:spcPct val="99600"/>
              </a:lnSpc>
            </a:pPr>
            <a:r>
              <a:rPr lang="ko-KR" sz="7066" b="false" i="false" u="none" strike="noStrike">
                <a:solidFill>
                  <a:srgbClr val="180D0A"/>
                </a:solidFill>
                <a:ea typeface="Pretendard Bold"/>
              </a:rPr>
              <a:t>분석</a:t>
            </a:r>
            <a:r>
              <a:rPr lang="en-US" sz="7066" b="false" i="false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066" b="false" i="false" u="none" strike="noStrike">
                <a:solidFill>
                  <a:srgbClr val="180D0A"/>
                </a:solidFill>
                <a:ea typeface="Pretendard Bold"/>
              </a:rPr>
              <a:t>모델링</a:t>
            </a:r>
            <a:r>
              <a:rPr lang="en-US" sz="7066" b="false" i="false" u="none" strike="noStrike">
                <a:solidFill>
                  <a:srgbClr val="180D0A"/>
                </a:solidFill>
                <a:latin typeface="Pretendard Bold"/>
              </a:rPr>
              <a:t> (</a:t>
            </a:r>
            <a:r>
              <a:rPr lang="ko-KR" sz="7066" b="false" i="false" u="none" strike="noStrike">
                <a:solidFill>
                  <a:srgbClr val="180D0A"/>
                </a:solidFill>
                <a:ea typeface="Pretendard Bold"/>
              </a:rPr>
              <a:t>분류</a:t>
            </a:r>
            <a:r>
              <a:rPr lang="en-US" sz="7066" b="false" i="false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066" b="false" i="false" u="none" strike="noStrike">
                <a:solidFill>
                  <a:srgbClr val="180D0A"/>
                </a:solidFill>
                <a:ea typeface="Pretendard Bold"/>
              </a:rPr>
              <a:t>기반</a:t>
            </a:r>
            <a:r>
              <a:rPr lang="en-US" sz="7066" b="false" i="false" u="none" strike="noStrike">
                <a:solidFill>
                  <a:srgbClr val="180D0A"/>
                </a:solidFill>
                <a:latin typeface="Pretendard Bold"/>
              </a:rPr>
              <a:t>)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651000" y="3060700"/>
          <a:ext cx="21082000" cy="9499600"/>
        </p:xfrm>
        <a:graphic>
          <a:graphicData uri="http://schemas.openxmlformats.org/drawingml/2006/table">
            <a:tbl>
              <a:tblPr/>
              <a:tblGrid>
                <a:gridCol w="916453"/>
                <a:gridCol w="3632120"/>
                <a:gridCol w="16534130"/>
              </a:tblGrid>
              <a:tr h="597009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번호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구분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내용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</a:tr>
              <a:tr h="974477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1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모델링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목적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접근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방법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관광객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특성과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리뷰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데이터를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활용하여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관광지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만족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여부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(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만족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/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불만족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를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이진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분류</a:t>
                      </a:r>
                      <a:b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</a:b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지도학습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기반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분류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모델을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설계하여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관광지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정확도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향상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07662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2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후보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기법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선정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근거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로지스틱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회귀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(Logistic Regression):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단순하고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해석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용이</a:t>
                      </a:r>
                      <a:endParaRPr lang="en-US" sz="1100"/>
                    </a:p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랜덤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포레스트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(Random Forest):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비선형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관계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학습에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강점</a:t>
                      </a:r>
                    </a:p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서포트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벡터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머신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(SVM):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고차원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데이터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분류에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적합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
→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최종적으로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랜덤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포레스트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선정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(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정확도와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해석력의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균형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39631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3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데이터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전처리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특징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엔지니어링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전처리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: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결측치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제거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범주형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변수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원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-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핫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인코딩</a:t>
                      </a:r>
                      <a:endParaRPr lang="en-US" sz="1100"/>
                    </a:p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특징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생성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: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여행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목적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+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연령대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조합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변수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리뷰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감성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점수</a:t>
                      </a:r>
                    </a:p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불균형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데이터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처리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: SMOTE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기법을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활용해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학습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데이터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보정</a:t>
                      </a:r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2861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4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모델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관리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운영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계획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모델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관리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체계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: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버전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관리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파라미터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튜닝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기록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저장</a:t>
                      </a:r>
                      <a:endParaRPr lang="en-US" sz="1100"/>
                    </a:p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운영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환경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: REST API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형태로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배포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실시간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요청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분류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결과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제공</a:t>
                      </a:r>
                    </a:p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모니터링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: Accuracy/F1-score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변화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추적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주기적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재학습</a:t>
                      </a:r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5169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5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성능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평가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기준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Accuracy (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정확도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  <a:endParaRPr lang="en-US" sz="1100"/>
                    </a:p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Precision·Recall·F1-score (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품질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평가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</a:p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ROC-AUC (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이진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분류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성능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종합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지표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8172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6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기대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효과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관광객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만족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여부를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명확히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예측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가능</a:t>
                      </a:r>
                      <a:endParaRPr lang="en-US" sz="1100"/>
                    </a:p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관광지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서비스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개선과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마케팅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전략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수립에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활용</a:t>
                      </a:r>
                    </a:p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맞춤형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관광지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추천의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신뢰성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향상</a:t>
                      </a:r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3462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7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결론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본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보고서는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분류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모델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기반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분석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모델링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기획을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통해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관광객의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만족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여부를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예측하고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이를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서비스에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적용함으로써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관광객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경험을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개선하는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전략을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제시한다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.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2565400" y="762000"/>
            <a:ext cx="1612900" cy="14224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8000" b="false" i="false" u="none" strike="noStrike">
                <a:solidFill>
                  <a:srgbClr val="FFFFFF"/>
                </a:solidFill>
                <a:latin typeface="Pretendard SemiBold"/>
              </a:rPr>
              <a:t>04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DD3C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5900" y="558800"/>
            <a:ext cx="3771900" cy="2006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829300" y="1117600"/>
            <a:ext cx="12725400" cy="1257300"/>
          </a:xfrm>
          <a:prstGeom prst="rect">
            <a:avLst/>
          </a:prstGeom>
        </p:spPr>
        <p:txBody>
          <a:bodyPr anchor="t" rtlCol="false" lIns="0" tIns="89744" rIns="0" bIns="0"/>
          <a:lstStyle/>
          <a:p>
            <a:pPr algn="ctr" lvl="0">
              <a:lnSpc>
                <a:spcPct val="99600"/>
              </a:lnSpc>
            </a:pPr>
            <a:r>
              <a:rPr lang="ko-KR" sz="7066" b="false" i="false" u="none" strike="noStrike">
                <a:solidFill>
                  <a:srgbClr val="180D0A"/>
                </a:solidFill>
                <a:ea typeface="Pretendard Bold"/>
              </a:rPr>
              <a:t>분석</a:t>
            </a:r>
            <a:r>
              <a:rPr lang="en-US" sz="7066" b="false" i="false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066" b="false" i="false" u="none" strike="noStrike">
                <a:solidFill>
                  <a:srgbClr val="180D0A"/>
                </a:solidFill>
                <a:ea typeface="Pretendard Bold"/>
              </a:rPr>
              <a:t>결과</a:t>
            </a:r>
            <a:r>
              <a:rPr lang="en-US" sz="7066" b="false" i="false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066" b="false" i="false" u="none" strike="noStrike">
                <a:solidFill>
                  <a:srgbClr val="180D0A"/>
                </a:solidFill>
                <a:ea typeface="Pretendard Bold"/>
              </a:rPr>
              <a:t>적용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651000" y="2641600"/>
          <a:ext cx="21082000" cy="10198100"/>
        </p:xfrm>
        <a:graphic>
          <a:graphicData uri="http://schemas.openxmlformats.org/drawingml/2006/table">
            <a:tbl>
              <a:tblPr/>
              <a:tblGrid>
                <a:gridCol w="916453"/>
                <a:gridCol w="3632120"/>
                <a:gridCol w="16534130"/>
              </a:tblGrid>
              <a:tr h="597009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번호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구분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내용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</a:tr>
              <a:tr h="11176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1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분석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결과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시각화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방안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대시보드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구성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: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관광객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유형별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추천지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TOP 5,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지역별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관광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트렌드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지도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시각화</a:t>
                      </a:r>
                      <a:endParaRPr lang="en-US" sz="1100"/>
                    </a:p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시각화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도구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: Tableau, Power BI, Python(Matplotlib/Seaborn)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활용</a:t>
                      </a:r>
                    </a:p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예시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차트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: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히트맵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(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지역별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관광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수요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),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워드클라우드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(SNS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리뷰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키워드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),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트렌드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라인차트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(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계절별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방문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패턴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732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2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협업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실행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계획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참여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주체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: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지자체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한국관광공사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여행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플랫폼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기업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데이터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분석팀</a:t>
                      </a:r>
                      <a:endParaRPr lang="en-US" sz="1100"/>
                    </a:p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역할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분담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: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데이터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제공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(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지자체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 /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모델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구축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(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분석팀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 /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서비스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운영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(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플랫폼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기업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</a:p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협업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방식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: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정기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회의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공유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대시보드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API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통합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관리</a:t>
                      </a:r>
                    </a:p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보고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체계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: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월간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성과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보고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분기별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개선안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제시</a:t>
                      </a:r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2794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3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비즈니스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적용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전략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1" indent="-342900" marL="342900">
                        <a:lnSpc>
                          <a:spcPct val="114538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서비스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단계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적용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
1. 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시범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운영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: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특정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관광지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(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예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: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제주도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부산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에서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관광객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대상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시범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서비스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제공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
2. 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데이터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확대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적용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: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관광공사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·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지자체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데이터와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민간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여행사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데이터를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추가로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연계하여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정확도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개선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
3. 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전국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서비스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확장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: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주요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관광도시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중심으로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서비스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확대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전국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단위로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순차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배포</a:t>
                      </a:r>
                      <a:b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</a:br>
                      <a:r>
                        <a:rPr lang="en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/>
                      </a:r>
                      <a:endParaRPr lang="en-US" sz="1100"/>
                    </a:p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활용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방안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
•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지자체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: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관광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정책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·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축제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홍보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자료로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활용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
•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관광객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: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개인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맞춤형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여행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일정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자동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생성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서비스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제공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
•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기업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/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플랫폼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: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숙박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·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교통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예약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서비스와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연동하여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매출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증대</a:t>
                      </a:r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732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4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응용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프로그램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연계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방안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모바일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앱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: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관광객이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직접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맞춤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결과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확인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
-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웹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플랫폼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: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지자체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/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여행사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관리자가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통계와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현황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확인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
-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외부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서비스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연계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: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지도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서비스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(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네이버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지도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카카오맵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예약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시스템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API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와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연동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
-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실시간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업데이트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: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스트리밍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데이터를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통한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자동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개선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732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5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기대</a:t>
                      </a:r>
                      <a:r>
                        <a:rPr lang="en-US" sz="2133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효과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관광객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만족도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편의성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증가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
-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지자체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관광객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유치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확대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지역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경제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활성화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
-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관광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산업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전반의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데이터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기반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혁신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촉진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
-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국내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관광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경쟁력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강화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624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6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" sz="2133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결론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1" indent="-342900" marL="342900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국내관광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스마트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서비스를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위한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분석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결과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적용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계획은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시각화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협업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현실적인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서비스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단계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전략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응용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프로그램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연계를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통해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실질적인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활용이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가능하다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.
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이를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통해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관광객과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지자체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모두에게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가치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있는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서비스가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될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수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있다</a:t>
                      </a:r>
                      <a:r>
                        <a:rPr lang="en-US" sz="2000" b="false" i="false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.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2578100" y="762000"/>
            <a:ext cx="1587500" cy="14224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8000" b="false" i="false" u="none" strike="noStrike">
                <a:solidFill>
                  <a:srgbClr val="FFFFFF"/>
                </a:solidFill>
                <a:latin typeface="Pretendard SemiBold"/>
              </a:rPr>
              <a:t>05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DDD3C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25500" y="2743200"/>
            <a:ext cx="22720300" cy="8229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592800" y="2501900"/>
            <a:ext cx="3771900" cy="2006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02400" y="8877300"/>
            <a:ext cx="3606800" cy="9779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6781800" y="9144000"/>
            <a:ext cx="3022600" cy="431800"/>
          </a:xfrm>
          <a:prstGeom prst="rect">
            <a:avLst/>
          </a:prstGeom>
        </p:spPr>
        <p:txBody>
          <a:bodyPr anchor="t" rtlCol="false" lIns="0" tIns="30479" rIns="0" bIns="0"/>
          <a:lstStyle/>
          <a:p>
            <a:pPr algn="ctr" lvl="0">
              <a:lnSpc>
                <a:spcPct val="99600"/>
              </a:lnSpc>
            </a:pPr>
            <a:r>
              <a:rPr lang="en-US" sz="2399" b="false" i="false" u="none" strike="noStrike">
                <a:solidFill>
                  <a:srgbClr val="FFFFFF"/>
                </a:solidFill>
                <a:latin typeface="Pretendard Medium"/>
              </a:rPr>
              <a:t>2</a:t>
            </a:r>
            <a:r>
              <a:rPr lang="ko-KR" sz="2399" b="false" i="false" u="none" strike="noStrike">
                <a:solidFill>
                  <a:srgbClr val="FFFFFF"/>
                </a:solidFill>
                <a:ea typeface="Pretendard Medium"/>
              </a:rPr>
              <a:t>조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223500" y="8877300"/>
            <a:ext cx="3606800" cy="9779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0515600" y="9144000"/>
            <a:ext cx="3022600" cy="431800"/>
          </a:xfrm>
          <a:prstGeom prst="rect">
            <a:avLst/>
          </a:prstGeom>
        </p:spPr>
        <p:txBody>
          <a:bodyPr anchor="t" rtlCol="false" lIns="0" tIns="30479" rIns="0" bIns="0"/>
          <a:lstStyle/>
          <a:p>
            <a:pPr algn="ctr" lvl="0">
              <a:lnSpc>
                <a:spcPct val="99600"/>
              </a:lnSpc>
            </a:pPr>
            <a:r>
              <a:rPr lang="en" sz="2399" b="false" i="false" u="none" strike="noStrike">
                <a:solidFill>
                  <a:srgbClr val="180D0A"/>
                </a:solidFill>
                <a:ea typeface="Pretendard Medium"/>
              </a:rPr>
              <a:t>윤태현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944600" y="8877300"/>
            <a:ext cx="3606800" cy="9779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4236700" y="9144000"/>
            <a:ext cx="3022600" cy="431800"/>
          </a:xfrm>
          <a:prstGeom prst="rect">
            <a:avLst/>
          </a:prstGeom>
        </p:spPr>
        <p:txBody>
          <a:bodyPr anchor="t" rtlCol="false" lIns="0" tIns="30479" rIns="0" bIns="0"/>
          <a:lstStyle/>
          <a:p>
            <a:pPr algn="ctr" lvl="0">
              <a:lnSpc>
                <a:spcPct val="99600"/>
              </a:lnSpc>
            </a:pPr>
            <a:r>
              <a:rPr lang="en" sz="2399" b="false" i="false" u="none" strike="noStrike">
                <a:solidFill>
                  <a:srgbClr val="180D0A"/>
                </a:solidFill>
                <a:ea typeface="Pretendard Medium"/>
              </a:rPr>
              <a:t>전익환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170900" y="10769600"/>
            <a:ext cx="2489200" cy="355600"/>
          </a:xfrm>
          <a:prstGeom prst="rect">
            <a:avLst/>
          </a:prstGeom>
        </p:spPr>
        <p:txBody>
          <a:bodyPr anchor="t" rtlCol="false" lIns="0" tIns="12700" rIns="0" bIns="0"/>
          <a:lstStyle/>
          <a:p>
            <a:pPr algn="r" lvl="0">
              <a:lnSpc>
                <a:spcPct val="107899"/>
              </a:lnSpc>
            </a:pPr>
            <a:r>
              <a:rPr lang="en" sz="2000" b="false" i="false" u="none" strike="noStrike" spc="-20">
                <a:solidFill>
                  <a:srgbClr val="FFFFFF"/>
                </a:solidFill>
                <a:latin typeface="Pretendard Medium"/>
              </a:rPr>
              <a:t>KOREA IT ACADEMY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2542500" y="9817100"/>
            <a:ext cx="596900" cy="685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9418300" y="2743200"/>
            <a:ext cx="2120900" cy="14859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5715000" y="5372100"/>
            <a:ext cx="12966700" cy="2374900"/>
          </a:xfrm>
          <a:prstGeom prst="rect">
            <a:avLst/>
          </a:prstGeom>
        </p:spPr>
        <p:txBody>
          <a:bodyPr anchor="t" rtlCol="false" lIns="0" tIns="169333" rIns="0" bIns="0"/>
          <a:lstStyle/>
          <a:p>
            <a:pPr algn="ctr" lvl="0">
              <a:lnSpc>
                <a:spcPct val="99600"/>
              </a:lnSpc>
            </a:pPr>
            <a:r>
              <a:rPr lang="en" sz="13333" b="false" i="false" u="none" strike="noStrike">
                <a:solidFill>
                  <a:srgbClr val="180D0A"/>
                </a:solidFill>
                <a:latin typeface="Pretendard Bold"/>
              </a:rPr>
              <a:t> 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