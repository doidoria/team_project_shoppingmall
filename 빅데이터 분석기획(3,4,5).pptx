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6858000" cy="9144000"/>
  <p:embeddedFontLst>
    <p:embeddedFont>
      <p:font typeface="Pretendard Bold" panose="020B0600000101010101" charset="-127"/>
      <p:bold r:id="rId19"/>
    </p:embeddedFont>
    <p:embeddedFont>
      <p:font typeface="Pretendard Medium" panose="020B0600000101010101" charset="-127"/>
      <p:bold r:id="rId20"/>
    </p:embeddedFont>
    <p:embeddedFont>
      <p:font typeface="Pretendard Regular" panose="020B0600000101010101" charset="-127"/>
      <p:regular r:id="rId21"/>
    </p:embeddedFont>
    <p:embeddedFont>
      <p:font typeface="Pretendard SemiBold" panose="020B0600000101010101" charset="-127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2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13000" y="8470900"/>
            <a:ext cx="104267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피부타입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및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사용자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맞춤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자동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추천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서비스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13000" y="11315700"/>
            <a:ext cx="5715000" cy="952500"/>
          </a:xfrm>
          <a:prstGeom prst="rect">
            <a:avLst/>
          </a:prstGeom>
        </p:spPr>
        <p:txBody>
          <a:bodyPr lIns="0" tIns="3431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2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조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 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윤태현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, 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전익환</a:t>
            </a:r>
          </a:p>
          <a:p>
            <a:pPr lvl="0" algn="l">
              <a:lnSpc>
                <a:spcPct val="114538"/>
              </a:lnSpc>
            </a:pP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보고일시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. 2025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년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 10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월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 1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20100" y="12661900"/>
            <a:ext cx="2489200" cy="3556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" sz="2000" b="0" i="0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8400" y="762000"/>
            <a:ext cx="2120900" cy="1485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413000" y="4191000"/>
            <a:ext cx="14033500" cy="4229100"/>
          </a:xfrm>
          <a:prstGeom prst="rect">
            <a:avLst/>
          </a:prstGeom>
        </p:spPr>
        <p:txBody>
          <a:bodyPr lIns="0" tIns="253994" rIns="0" bIns="0" rtlCol="0" anchor="t"/>
          <a:lstStyle/>
          <a:p>
            <a:pPr lvl="0" algn="l">
              <a:lnSpc>
                <a:spcPct val="91299"/>
              </a:lnSpc>
            </a:pPr>
            <a:r>
              <a:rPr lang="en" sz="13333" b="0" i="0" u="none" strike="noStrike">
                <a:solidFill>
                  <a:srgbClr val="180D0A"/>
                </a:solidFill>
                <a:ea typeface="Pretendard SemiBold"/>
              </a:rPr>
              <a:t>빅데이터</a:t>
            </a:r>
          </a:p>
          <a:p>
            <a:pPr lvl="0" algn="l">
              <a:lnSpc>
                <a:spcPct val="91299"/>
              </a:lnSpc>
            </a:pPr>
            <a:r>
              <a:rPr lang="ko-KR" sz="13333" b="0" i="0" u="none" strike="noStrike">
                <a:solidFill>
                  <a:srgbClr val="2C2C2C"/>
                </a:solidFill>
                <a:ea typeface="Pretendard SemiBold"/>
              </a:rPr>
              <a:t>분석</a:t>
            </a:r>
            <a:r>
              <a:rPr lang="en-US" sz="13333" b="0" i="0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3333" b="0" i="0" u="none" strike="noStrike">
                <a:solidFill>
                  <a:srgbClr val="2C2C2C"/>
                </a:solidFill>
                <a:ea typeface="Pretendard SemiBold"/>
              </a:rPr>
              <a:t>기획</a:t>
            </a:r>
            <a:r>
              <a:rPr lang="en-US" sz="13333" b="0" i="0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3333" b="0" i="0" u="none" strike="noStrike">
                <a:solidFill>
                  <a:srgbClr val="2C2C2C"/>
                </a:solidFill>
                <a:ea typeface="Pretendard SemiBold"/>
              </a:rPr>
              <a:t>보고서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1700" y="11760200"/>
            <a:ext cx="596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0" y="3695700"/>
            <a:ext cx="35560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972800" y="30353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52000" y="3962400"/>
            <a:ext cx="34290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요건</a:t>
            </a:r>
            <a:r>
              <a:rPr lang="en-US" sz="3066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정의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15500" y="5016500"/>
            <a:ext cx="3568700" cy="21336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기존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요구사항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분석표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요구사항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명세화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Use Case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명세서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검증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기법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: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검토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0" y="9436100"/>
            <a:ext cx="35560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0" y="9436100"/>
            <a:ext cx="3556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972800" y="87630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27300" y="87630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13900" y="9690100"/>
            <a:ext cx="35052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3066" b="0" i="0" u="none" strike="noStrike">
                <a:solidFill>
                  <a:srgbClr val="180D0A"/>
                </a:solidFill>
                <a:ea typeface="Pretendard SemiBold"/>
              </a:rPr>
              <a:t>모델링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68400" y="9690100"/>
            <a:ext cx="35052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결과</a:t>
            </a:r>
            <a:r>
              <a:rPr lang="en-US" sz="3066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적용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02800" y="10693400"/>
            <a:ext cx="3568700" cy="444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모델링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기획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(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분류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70000" y="10693400"/>
            <a:ext cx="3568700" cy="444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결과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적용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3695700"/>
            <a:ext cx="3556000" cy="25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5252700" y="30353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60500" y="3962400"/>
            <a:ext cx="29591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데이터</a:t>
            </a:r>
            <a:r>
              <a:rPr lang="en-US" sz="3066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확보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08100" y="5016500"/>
            <a:ext cx="3568700" cy="21336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개념적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설계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논리적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설계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외부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Open API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내부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수집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API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8300" y="3695700"/>
            <a:ext cx="3556000" cy="25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9545300" y="30353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53100" y="3962400"/>
            <a:ext cx="29591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데이터</a:t>
            </a:r>
            <a:r>
              <a:rPr lang="en-US" sz="3066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탐색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288000" y="5016500"/>
            <a:ext cx="3568700" cy="444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데이터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기획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(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분류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)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905000" y="6146800"/>
            <a:ext cx="6400800" cy="1422400"/>
          </a:xfrm>
          <a:prstGeom prst="rect">
            <a:avLst/>
          </a:prstGeom>
        </p:spPr>
        <p:txBody>
          <a:bodyPr lIns="0" tIns="10159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7998" b="0" i="0" u="none" strike="noStrike">
                <a:solidFill>
                  <a:srgbClr val="180D0A"/>
                </a:solidFill>
                <a:latin typeface="Pretendard SemiBold"/>
              </a:rPr>
              <a:t>CONTENTS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400" y="762000"/>
            <a:ext cx="2120900" cy="1485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1120100" y="12661900"/>
            <a:ext cx="2489200" cy="3556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" sz="2000" b="0" i="0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91700" y="11760200"/>
            <a:ext cx="596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9300" y="21971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기존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요구사항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분석표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0100" y="5727700"/>
            <a:ext cx="952500" cy="952500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714500" y="4254500"/>
          <a:ext cx="20955000" cy="7899400"/>
        </p:xfrm>
        <a:graphic>
          <a:graphicData uri="http://schemas.openxmlformats.org/drawingml/2006/table">
            <a:tbl>
              <a:tblPr/>
              <a:tblGrid>
                <a:gridCol w="187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6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2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55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ID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유형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요청자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기능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&amp;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원하는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UX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팀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생성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속도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10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백엔드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개발자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보안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암호화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저장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개인정보위원회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UI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별도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심리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검사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형태로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파악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UI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디자인팀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UX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상시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제품들도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업데이트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반영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엔지니어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운영팀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접근성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원활한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위한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구체적인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안내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전달사항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검토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위원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개수별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상위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선정하여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우선순위별로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마케팅팀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R-008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알고리즘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콘텐츠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선호도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따른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AI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개발자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추천시스템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R-009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신청한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한에서만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마케팅팀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752600" y="6096000"/>
          <a:ext cx="20866100" cy="4445000"/>
        </p:xfrm>
        <a:graphic>
          <a:graphicData uri="http://schemas.openxmlformats.org/drawingml/2006/table">
            <a:tbl>
              <a:tblPr/>
              <a:tblGrid>
                <a:gridCol w="187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6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211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요구사항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 ID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요구사항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설명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우선순위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출력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665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RQ-01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665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RQ-02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29300" y="3822700"/>
            <a:ext cx="12738100" cy="13081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요구사항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명세화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9000" y="4038600"/>
          <a:ext cx="20078700" cy="7785100"/>
        </p:xfrm>
        <a:graphic>
          <a:graphicData uri="http://schemas.openxmlformats.org/drawingml/2006/table">
            <a:tbl>
              <a:tblPr/>
              <a:tblGrid>
                <a:gridCol w="58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8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799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Use Case </a:t>
                      </a:r>
                      <a:r>
                        <a:rPr lang="ko-KR" sz="2799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명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개요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(Basic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대안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(Alternative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예외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(Exception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16600" y="1460500"/>
            <a:ext cx="12738100" cy="22098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Use Case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명세서</a:t>
            </a:r>
          </a:p>
          <a:p>
            <a:pPr lvl="0" algn="ctr">
              <a:lnSpc>
                <a:spcPct val="111220"/>
              </a:lnSpc>
            </a:pP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(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피부타입별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상품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추천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9000" y="4038600"/>
          <a:ext cx="20078700" cy="7785100"/>
        </p:xfrm>
        <a:graphic>
          <a:graphicData uri="http://schemas.openxmlformats.org/drawingml/2006/table">
            <a:tbl>
              <a:tblPr/>
              <a:tblGrid>
                <a:gridCol w="58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8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799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Use Case </a:t>
                      </a:r>
                      <a:r>
                        <a:rPr lang="ko-KR" sz="2799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명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개요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(Basic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대안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(Alternative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예외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(Exception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16600" y="1460500"/>
            <a:ext cx="12738100" cy="22098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Use Case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명세서</a:t>
            </a:r>
          </a:p>
          <a:p>
            <a:pPr lvl="0" algn="ctr">
              <a:lnSpc>
                <a:spcPct val="111220"/>
              </a:lnSpc>
            </a:pP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(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사용자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개인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취향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맞춤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상품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제공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9000" y="4038600"/>
          <a:ext cx="20078700" cy="8432800"/>
        </p:xfrm>
        <a:graphic>
          <a:graphicData uri="http://schemas.openxmlformats.org/drawingml/2006/table">
            <a:tbl>
              <a:tblPr/>
              <a:tblGrid>
                <a:gridCol w="58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8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799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실행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절차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실제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기록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판정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16600" y="1460500"/>
            <a:ext cx="12738100" cy="22098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검증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기법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: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검토</a:t>
            </a:r>
          </a:p>
          <a:p>
            <a:pPr lvl="0" algn="ctr">
              <a:lnSpc>
                <a:spcPct val="111220"/>
              </a:lnSpc>
            </a:pPr>
            <a:r>
              <a:rPr lang="en" sz="5333" b="0" i="0" u="none" strike="noStrike">
                <a:solidFill>
                  <a:srgbClr val="54443F"/>
                </a:solidFill>
                <a:latin typeface="Pretendard Bold"/>
              </a:rPr>
              <a:t>(Test Case ID: TC-01)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9000" y="4038600"/>
          <a:ext cx="20078700" cy="8432800"/>
        </p:xfrm>
        <a:graphic>
          <a:graphicData uri="http://schemas.openxmlformats.org/drawingml/2006/table">
            <a:tbl>
              <a:tblPr/>
              <a:tblGrid>
                <a:gridCol w="58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8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799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실행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절차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실제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기록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판정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16600" y="1460500"/>
            <a:ext cx="12738100" cy="22098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검증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기법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: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검토</a:t>
            </a:r>
          </a:p>
          <a:p>
            <a:pPr lvl="0" algn="ctr">
              <a:lnSpc>
                <a:spcPct val="111220"/>
              </a:lnSpc>
            </a:pPr>
            <a:r>
              <a:rPr lang="en" sz="5333" b="0" i="0" u="none" strike="noStrike">
                <a:solidFill>
                  <a:srgbClr val="54443F"/>
                </a:solidFill>
                <a:latin typeface="Pretendard Bold"/>
              </a:rPr>
              <a:t>(Test Case ID: TC-02)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21971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후보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데이터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수집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방식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85900" y="4127500"/>
          <a:ext cx="21412200" cy="8178800"/>
        </p:xfrm>
        <a:graphic>
          <a:graphicData uri="http://schemas.openxmlformats.org/drawingml/2006/table">
            <a:tbl>
              <a:tblPr/>
              <a:tblGrid>
                <a:gridCol w="904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0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1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8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15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후보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경로</a:t>
                      </a:r>
                      <a:b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</a:b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방식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주기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활용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진단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라디오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버튼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1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필요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적합한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화장품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제조사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웹사이트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공공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식약처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화해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크롤링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API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연동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1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업데이트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매칭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정확도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행동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조회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장바구니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DAYFUL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플랫폼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내부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자동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협업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평점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DAYFUL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시스템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직접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감성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트렌드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키워드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(SNS,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커뮤니티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인스타그램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유튜브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뷰티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커뮤니티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크롤링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키워드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유행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반영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인기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대한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비선호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or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다중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1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필터링으로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90800" y="762000"/>
            <a:ext cx="15621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8000" b="0" i="0" u="none" strike="noStrike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8161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개념적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설계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85900" y="3683000"/>
          <a:ext cx="21386800" cy="8077200"/>
        </p:xfrm>
        <a:graphic>
          <a:graphicData uri="http://schemas.openxmlformats.org/drawingml/2006/table">
            <a:tbl>
              <a:tblPr/>
              <a:tblGrid>
                <a:gridCol w="904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6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6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엔터티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핵심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속성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관계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02-01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8161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논리적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설계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85900" y="3683000"/>
          <a:ext cx="21386800" cy="8077200"/>
        </p:xfrm>
        <a:graphic>
          <a:graphicData uri="http://schemas.openxmlformats.org/drawingml/2006/table">
            <a:tbl>
              <a:tblPr/>
              <a:tblGrid>
                <a:gridCol w="88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2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6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6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엔터티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핵심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속성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관계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41500" y="749300"/>
            <a:ext cx="30734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02-02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21209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외부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Open API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600200" y="3911600"/>
          <a:ext cx="21183600" cy="8077200"/>
        </p:xfrm>
        <a:graphic>
          <a:graphicData uri="http://schemas.openxmlformats.org/drawingml/2006/table">
            <a:tbl>
              <a:tblPr/>
              <a:tblGrid>
                <a:gridCol w="904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1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9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6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73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제공처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API /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엔드포인트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메서드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Base URL · Endpoint(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예시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41500" y="762000"/>
            <a:ext cx="30734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02-03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3589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내부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Open API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35100" y="3048000"/>
          <a:ext cx="21501100" cy="9550400"/>
        </p:xfrm>
        <a:graphic>
          <a:graphicData uri="http://schemas.openxmlformats.org/drawingml/2006/table">
            <a:tbl>
              <a:tblPr/>
              <a:tblGrid>
                <a:gridCol w="2485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2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8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8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54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시스템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API /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엔드포인트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메서드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요청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파라미터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바디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반환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자료형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082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 GW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082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 GW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41500" y="762000"/>
            <a:ext cx="30734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02-04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244600"/>
            <a:ext cx="12725400" cy="1257300"/>
          </a:xfrm>
          <a:prstGeom prst="rect">
            <a:avLst/>
          </a:prstGeom>
        </p:spPr>
        <p:txBody>
          <a:bodyPr lIns="0" tIns="8974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데이터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기획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 (</a:t>
            </a: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분류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기반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)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286999"/>
              </p:ext>
            </p:extLst>
          </p:nvPr>
        </p:nvGraphicFramePr>
        <p:xfrm>
          <a:off x="1651000" y="2819400"/>
          <a:ext cx="21082398" cy="9968782"/>
        </p:xfrm>
        <a:graphic>
          <a:graphicData uri="http://schemas.openxmlformats.org/drawingml/2006/table">
            <a:tbl>
              <a:tblPr/>
              <a:tblGrid>
                <a:gridCol w="9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00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46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범위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피부타입과 취향 데이터를 활용하여 제품 선호 여부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를 분류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범위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연령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지성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건성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복합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 고민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여드름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주름 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선호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기피 성분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카테고리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리뷰 데이터 활용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로지스틱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회귀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(Logistic Regression)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고급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Random Forest, </a:t>
                      </a:r>
                      <a:r>
                        <a:rPr lang="en-US" altLang="ko-KR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XGBoost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Neural Network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활용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방식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“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리뷰 감정 정보를 종합해 “추천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비추천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” 분류 결과 제공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절차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프로세스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문제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정의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(Problem Definition)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수집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(Data Collection)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전처리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(Data Preprocessing)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탐색적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(EDA)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(Train/Test Split)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선택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학습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(Model Training)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평가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(Model Evaluation)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(Model Optimization)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배포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활용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(Deployment)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60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도구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환경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언어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라이브러리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Python (scikit-learn, TensorFlow, </a:t>
                      </a:r>
                      <a:r>
                        <a:rPr lang="en-US" altLang="ko-KR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Keras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NLTK/</a:t>
                      </a:r>
                      <a:r>
                        <a:rPr lang="en-US" altLang="ko-KR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TextBlob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환경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: </a:t>
                      </a:r>
                      <a:r>
                        <a:rPr lang="en-US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Jupyter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Notebook, </a:t>
                      </a:r>
                      <a:r>
                        <a:rPr lang="en-US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Colab</a:t>
                      </a:r>
                      <a:endParaRPr lang="en-US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시각화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설명가능성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: matplotlib, seaborn, SHAP/LIME(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특징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중요도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국소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설명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지표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Accuracy(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정확도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Precision(</a:t>
                      </a:r>
                      <a:r>
                        <a:rPr lang="ko-KR" alt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정밀도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Recall(</a:t>
                      </a:r>
                      <a:r>
                        <a:rPr lang="ko-KR" altLang="en-US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재현율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F1-Score(macro/weighted)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ROC-AUC(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이진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다중클래스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OvR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PR-AUC(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불균형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권장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Confusion Matrix, KS-Statistic(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선택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효과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취향에 따른 제품 분류 정확도 향상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고객별 불필요한 제품 추천 감소 → 만족도 증가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기획 및 마케팅에서 활용할 수 있는 세분화된 인사이트 제공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34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결론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본 프로젝트는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 모델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활용해 사용자별 제품 선호 여부를 효과적으로 예측하는 것을 목표로 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운영 단계에서는 데이터 불균형 처리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(SMOTE/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가중치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설명가능성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(SHAP)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확보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성능 모니터링을 통해 지속적인 개선을 추진한다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78100" y="7620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8000" b="0" i="0" u="none" strike="noStrike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473200"/>
            <a:ext cx="12725400" cy="1257300"/>
          </a:xfrm>
          <a:prstGeom prst="rect">
            <a:avLst/>
          </a:prstGeom>
        </p:spPr>
        <p:txBody>
          <a:bodyPr lIns="0" tIns="8974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모델링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(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분류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기반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)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720776"/>
              </p:ext>
            </p:extLst>
          </p:nvPr>
        </p:nvGraphicFramePr>
        <p:xfrm>
          <a:off x="1651000" y="3060700"/>
          <a:ext cx="21082703" cy="9504097"/>
        </p:xfrm>
        <a:graphic>
          <a:graphicData uri="http://schemas.openxmlformats.org/drawingml/2006/table">
            <a:tbl>
              <a:tblPr/>
              <a:tblGrid>
                <a:gridCol w="9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4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00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47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피부타입과 취향 데이터를 활용하여 제품 선호 여부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분류 </a:t>
                      </a:r>
                      <a:b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</a:b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지도학습 기반 분류 모델을 설계하여 맞춤형 추천 정확도 향상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76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후보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근거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로지스틱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회귀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(Logistic Regression) 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단순하고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해석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용이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랜덤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포레스트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(Random Forest) 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비선형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관계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학습에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강점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서포트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벡터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머신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(SVM) 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고차원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분류에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적합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</a:t>
                      </a:r>
                      <a:r>
                        <a:rPr lang="en-US" altLang="ko-KR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XGBoost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신경망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대규모 데이터와 복잡한 패턴 학습에 효과적</a:t>
                      </a:r>
                      <a:endParaRPr lang="en-US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96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전처리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엔지니어링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전처리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결측치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처리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텍스트 정제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수치형 변수 스케일링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특징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생성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+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연령대 조합 변수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성분 기반 선호도 변수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불균형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처리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SMOTE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기법을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활용해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학습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보정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6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계획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관리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체계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버전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관리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파라미터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튜닝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저장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운영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환경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REST API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형태로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배포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실시간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요청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결과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제공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모니터링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Accuracy/F1-score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변화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추적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주기적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재학습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51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기준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Accuracy (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정확도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Precision·Recall·F1-score (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추천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품질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평가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ROC-AUC (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이진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성능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종합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지표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172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효과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취향과 피부타입에 따른 추천 정확도 향상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불필요한 제품 추천 감소 → 고객 만족도 및 충성도 제고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마케팅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기획에서 활용 가능한 세그먼트 기반 인사이트 제공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34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결론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본 프로젝트는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 기반 추천 모델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활용하여 사용자별 제품 선호 여부를 예측한다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이 결과를 서비스 추천 시스템에 반영해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개인 맞춤형 경험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제공하고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동시에 기업의 마케팅 및 제품 전략 수립에도 기여한다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65400" y="762000"/>
            <a:ext cx="16129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8000" b="0" i="0" u="none" strike="noStrike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117600"/>
            <a:ext cx="12725400" cy="1257300"/>
          </a:xfrm>
          <a:prstGeom prst="rect">
            <a:avLst/>
          </a:prstGeom>
        </p:spPr>
        <p:txBody>
          <a:bodyPr lIns="0" tIns="8974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결과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적용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964063"/>
              </p:ext>
            </p:extLst>
          </p:nvPr>
        </p:nvGraphicFramePr>
        <p:xfrm>
          <a:off x="1637948" y="2540000"/>
          <a:ext cx="21082703" cy="10401290"/>
        </p:xfrm>
        <a:graphic>
          <a:graphicData uri="http://schemas.openxmlformats.org/drawingml/2006/table">
            <a:tbl>
              <a:tblPr/>
              <a:tblGrid>
                <a:gridCol w="9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4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621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 dirty="0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27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분석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결과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시각화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방안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대시보드 구성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피부타입별 사용자 분포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성분 선호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기피 현황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추천 제품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TOP 5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시각화 도구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Tableau, Power BI, Python(matplotlib, seaborn)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예시 차트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파이차트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 비율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바차트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카테고리별 선호도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워드클라우드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리뷰 키워드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트렌드 라인차트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성분 선호 변화 추이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endParaRPr lang="en-US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380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협업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실행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계획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참여 주체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화장품 브랜드사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온라인 쇼핑몰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분석팀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역할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분담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 제공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브랜드사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 /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 구축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 /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 운영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플랫폼 기업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협업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방식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정기 회의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API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 공유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공동 마케팅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보고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체계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월간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성과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보고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분기별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개선안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27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비즈니스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적용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전략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lnSpc>
                          <a:spcPct val="114538"/>
                        </a:lnSpc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단계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적용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    1. 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시범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운영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특정 제품군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예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스킨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로션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에 추천 시스템 시범 서비스 제공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    2. 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확대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적용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연령대별 데이터 누적 시 추천 정확도 개선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    3. 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전국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확장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모든 화장품 카테고리로 확대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주요 쇼핑몰과 연계</a:t>
                      </a:r>
                      <a:b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</a:b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활용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방안</a:t>
                      </a:r>
                      <a:endParaRPr lang="en-US" alt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0" lvl="1" indent="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Tx/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  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1.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마케팅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고객 세분화에 기반한 타겟 광고 및 프로모션 활용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    2.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개발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선호 성분 및 트렌드 분석 결과를 신규 제품 기획에 반영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    3.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고객 관리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개인 맞춤 추천을 통해 장기 고객 유지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재구매율 증대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0" lvl="1" indent="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Tx/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   4.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전략 수립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브랜드별 경쟁 제품 분석 및 차별화 전략 도출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380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 dirty="0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응용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프로그램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방안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모바일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앱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프로필 기반 실시간 추천 제공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웹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플랫폼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쇼핑몰 내 개인 맞춤 추천 위젯 제공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외부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연계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카카오톡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네이버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API</a:t>
                      </a:r>
                      <a:r>
                        <a:rPr lang="ko-KR" altLang="en-US" sz="20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와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연동해 제품 추천 알림 제공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실시간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업데이트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인스타그램 등에서 인기 성분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트렌드 반영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380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기대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효과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맞춤형 추천 정확도 향상 → 구매 만족도 및 충성도 증가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브랜드사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불필요한 마케팅 비용 절감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타겟 마케팅 효율성 강화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플랫폼사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체류 시간 증가 및 재구매율 상승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시장 경쟁력 강화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989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결론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본 프로젝트는 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취향 데이터를 활용한 추천 결과를 실제 서비스에 적용하여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맞춤형 사용자 경험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제공한다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협업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 확장 전략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응용 프로그램 연계를 통해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실질적이고 지속 가능한 비즈니스 가치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창출이 가능하다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78100" y="762000"/>
            <a:ext cx="15875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8000" b="0" i="0" u="none" strike="noStrike">
                <a:solidFill>
                  <a:srgbClr val="FFFFFF"/>
                </a:solidFill>
                <a:latin typeface="Pretendard SemiBold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2743200"/>
            <a:ext cx="22720300" cy="822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2800" y="25019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8877300"/>
            <a:ext cx="3606800" cy="977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781800" y="9144000"/>
            <a:ext cx="3022600" cy="4318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Medium"/>
              </a:rPr>
              <a:t>2</a:t>
            </a:r>
            <a:r>
              <a:rPr lang="ko-KR" sz="2399" b="0" i="0" u="none" strike="noStrike">
                <a:solidFill>
                  <a:srgbClr val="FFFFFF"/>
                </a:solidFill>
                <a:ea typeface="Pretendard Medium"/>
              </a:rPr>
              <a:t>조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3500" y="8877300"/>
            <a:ext cx="3606800" cy="977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515600" y="9144000"/>
            <a:ext cx="3022600" cy="4318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399" b="0" i="0" u="none" strike="noStrike">
                <a:solidFill>
                  <a:srgbClr val="180D0A"/>
                </a:solidFill>
                <a:ea typeface="Pretendard Medium"/>
              </a:rPr>
              <a:t>윤태현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44600" y="8877300"/>
            <a:ext cx="3606800" cy="977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236700" y="9144000"/>
            <a:ext cx="3022600" cy="4318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399" b="0" i="0" u="none" strike="noStrike">
                <a:solidFill>
                  <a:srgbClr val="180D0A"/>
                </a:solidFill>
                <a:ea typeface="Pretendard Medium"/>
              </a:rPr>
              <a:t>전익환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170900" y="10769600"/>
            <a:ext cx="2489200" cy="3556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" sz="2000" b="0" i="0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42500" y="9817100"/>
            <a:ext cx="596900" cy="685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18300" y="2743200"/>
            <a:ext cx="2120900" cy="1485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715000" y="5372100"/>
            <a:ext cx="12966700" cy="2374900"/>
          </a:xfrm>
          <a:prstGeom prst="rect">
            <a:avLst/>
          </a:prstGeom>
        </p:spPr>
        <p:txBody>
          <a:bodyPr lIns="0" tIns="1693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13333" b="0" i="0" u="none" strike="noStrike">
                <a:solidFill>
                  <a:srgbClr val="180D0A"/>
                </a:solidFill>
                <a:latin typeface="Pretendard Bold"/>
              </a:rPr>
              <a:t> 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1663</Words>
  <Application>Microsoft Office PowerPoint</Application>
  <PresentationFormat>사용자 지정</PresentationFormat>
  <Paragraphs>346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Pretendard SemiBold</vt:lpstr>
      <vt:lpstr>Pretendard Medium</vt:lpstr>
      <vt:lpstr>Pretendard Regular</vt:lpstr>
      <vt:lpstr>Calibri</vt:lpstr>
      <vt:lpstr>Pretendard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FullName</cp:lastModifiedBy>
  <cp:revision>7</cp:revision>
  <dcterms:created xsi:type="dcterms:W3CDTF">2006-08-16T00:00:00Z</dcterms:created>
  <dcterms:modified xsi:type="dcterms:W3CDTF">2025-09-25T08:04:29Z</dcterms:modified>
</cp:coreProperties>
</file>