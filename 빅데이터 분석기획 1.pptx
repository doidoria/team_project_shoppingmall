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24384000" cy="13716000"/>
  <p:notesSz cx="6858000" cy="9144000"/>
  <p:embeddedFontLst>
    <p:embeddedFont>
      <p:font typeface="Pretendard Bold" panose="020B0600000101010101" charset="-127"/>
      <p:bold r:id="rId19"/>
    </p:embeddedFont>
    <p:embeddedFont>
      <p:font typeface="Pretendard Medium" panose="020B0600000101010101" charset="-127"/>
      <p:bold r:id="rId20"/>
    </p:embeddedFont>
    <p:embeddedFont>
      <p:font typeface="Pretendard Regular" panose="020B0600000101010101" charset="-127"/>
      <p:regular r:id="rId21"/>
    </p:embeddedFont>
    <p:embeddedFont>
      <p:font typeface="Pretendard SemiBold" panose="020B0600000101010101" charset="-127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54" y="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2900" y="558800"/>
            <a:ext cx="37719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413000" y="8470900"/>
            <a:ext cx="10426700" cy="711200"/>
          </a:xfrm>
          <a:prstGeom prst="rect">
            <a:avLst/>
          </a:prstGeom>
        </p:spPr>
        <p:txBody>
          <a:bodyPr lIns="0" tIns="50799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3999" b="0" i="0" u="none" strike="noStrike">
                <a:solidFill>
                  <a:srgbClr val="180D0A"/>
                </a:solidFill>
                <a:ea typeface="Pretendard SemiBold"/>
              </a:rPr>
              <a:t>피부타입</a:t>
            </a:r>
            <a:r>
              <a:rPr lang="en-US" sz="3999" b="0" i="0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999" b="0" i="0" u="none" strike="noStrike">
                <a:solidFill>
                  <a:srgbClr val="180D0A"/>
                </a:solidFill>
                <a:ea typeface="Pretendard SemiBold"/>
              </a:rPr>
              <a:t>및</a:t>
            </a:r>
            <a:r>
              <a:rPr lang="en-US" sz="3999" b="0" i="0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999" b="0" i="0" u="none" strike="noStrike">
                <a:solidFill>
                  <a:srgbClr val="180D0A"/>
                </a:solidFill>
                <a:ea typeface="Pretendard SemiBold"/>
              </a:rPr>
              <a:t>사용자</a:t>
            </a:r>
            <a:r>
              <a:rPr lang="en-US" sz="3999" b="0" i="0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999" b="0" i="0" u="none" strike="noStrike">
                <a:solidFill>
                  <a:srgbClr val="180D0A"/>
                </a:solidFill>
                <a:ea typeface="Pretendard SemiBold"/>
              </a:rPr>
              <a:t>맞춤</a:t>
            </a:r>
            <a:r>
              <a:rPr lang="en-US" sz="3999" b="0" i="0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999" b="0" i="0" u="none" strike="noStrike">
                <a:solidFill>
                  <a:srgbClr val="180D0A"/>
                </a:solidFill>
                <a:ea typeface="Pretendard SemiBold"/>
              </a:rPr>
              <a:t>자동</a:t>
            </a:r>
            <a:r>
              <a:rPr lang="en-US" sz="3999" b="0" i="0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999" b="0" i="0" u="none" strike="noStrike">
                <a:solidFill>
                  <a:srgbClr val="180D0A"/>
                </a:solidFill>
                <a:ea typeface="Pretendard SemiBold"/>
              </a:rPr>
              <a:t>추천</a:t>
            </a:r>
            <a:r>
              <a:rPr lang="en-US" sz="3999" b="0" i="0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999" b="0" i="0" u="none" strike="noStrike">
                <a:solidFill>
                  <a:srgbClr val="180D0A"/>
                </a:solidFill>
                <a:ea typeface="Pretendard SemiBold"/>
              </a:rPr>
              <a:t>서비스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413000" y="11315700"/>
            <a:ext cx="5715000" cy="952500"/>
          </a:xfrm>
          <a:prstGeom prst="rect">
            <a:avLst/>
          </a:prstGeom>
        </p:spPr>
        <p:txBody>
          <a:bodyPr lIns="0" tIns="3431" rIns="0" bIns="0" rtlCol="0" anchor="t"/>
          <a:lstStyle/>
          <a:p>
            <a:pPr lvl="0" algn="l">
              <a:lnSpc>
                <a:spcPct val="114538"/>
              </a:lnSpc>
            </a:pPr>
            <a:r>
              <a:rPr lang="en-US" sz="2701" b="0" i="0" u="none" strike="noStrike" spc="54">
                <a:solidFill>
                  <a:srgbClr val="180D0A"/>
                </a:solidFill>
                <a:latin typeface="Pretendard Medium"/>
              </a:rPr>
              <a:t>2</a:t>
            </a:r>
            <a:r>
              <a:rPr lang="ko-KR" sz="2701" b="0" i="0" u="none" strike="noStrike" spc="54">
                <a:solidFill>
                  <a:srgbClr val="180D0A"/>
                </a:solidFill>
                <a:ea typeface="Pretendard Medium"/>
              </a:rPr>
              <a:t>조</a:t>
            </a:r>
            <a:r>
              <a:rPr lang="en-US" sz="2701" b="0" i="0" u="none" strike="noStrike" spc="54">
                <a:solidFill>
                  <a:srgbClr val="180D0A"/>
                </a:solidFill>
                <a:latin typeface="Pretendard Medium"/>
              </a:rPr>
              <a:t> </a:t>
            </a:r>
            <a:r>
              <a:rPr lang="ko-KR" sz="2701" b="0" i="0" u="none" strike="noStrike" spc="54">
                <a:solidFill>
                  <a:srgbClr val="180D0A"/>
                </a:solidFill>
                <a:ea typeface="Pretendard Medium"/>
              </a:rPr>
              <a:t>윤태현</a:t>
            </a:r>
            <a:r>
              <a:rPr lang="en-US" sz="2701" b="0" i="0" u="none" strike="noStrike" spc="54">
                <a:solidFill>
                  <a:srgbClr val="180D0A"/>
                </a:solidFill>
                <a:latin typeface="Pretendard Medium"/>
              </a:rPr>
              <a:t>, </a:t>
            </a:r>
            <a:r>
              <a:rPr lang="ko-KR" sz="2701" b="0" i="0" u="none" strike="noStrike" spc="54">
                <a:solidFill>
                  <a:srgbClr val="180D0A"/>
                </a:solidFill>
                <a:ea typeface="Pretendard Medium"/>
              </a:rPr>
              <a:t>전익환</a:t>
            </a:r>
          </a:p>
          <a:p>
            <a:pPr lvl="0" algn="l">
              <a:lnSpc>
                <a:spcPct val="114538"/>
              </a:lnSpc>
            </a:pPr>
            <a:r>
              <a:rPr lang="ko-KR" sz="2701" b="0" i="0" u="none" strike="noStrike" spc="54">
                <a:solidFill>
                  <a:srgbClr val="180D0A"/>
                </a:solidFill>
                <a:ea typeface="Pretendard Medium"/>
              </a:rPr>
              <a:t>보고일시</a:t>
            </a:r>
            <a:r>
              <a:rPr lang="en-US" sz="2701" b="0" i="0" u="none" strike="noStrike" spc="54">
                <a:solidFill>
                  <a:srgbClr val="180D0A"/>
                </a:solidFill>
                <a:latin typeface="Pretendard Medium"/>
              </a:rPr>
              <a:t>. 2025</a:t>
            </a:r>
            <a:r>
              <a:rPr lang="ko-KR" sz="2701" b="0" i="0" u="none" strike="noStrike" spc="54">
                <a:solidFill>
                  <a:srgbClr val="180D0A"/>
                </a:solidFill>
                <a:ea typeface="Pretendard Medium"/>
              </a:rPr>
              <a:t>년</a:t>
            </a:r>
            <a:r>
              <a:rPr lang="en-US" sz="2701" b="0" i="0" u="none" strike="noStrike" spc="54">
                <a:solidFill>
                  <a:srgbClr val="180D0A"/>
                </a:solidFill>
                <a:latin typeface="Pretendard Medium"/>
              </a:rPr>
              <a:t> 10</a:t>
            </a:r>
            <a:r>
              <a:rPr lang="ko-KR" sz="2701" b="0" i="0" u="none" strike="noStrike" spc="54">
                <a:solidFill>
                  <a:srgbClr val="180D0A"/>
                </a:solidFill>
                <a:ea typeface="Pretendard Medium"/>
              </a:rPr>
              <a:t>월</a:t>
            </a:r>
            <a:r>
              <a:rPr lang="en-US" sz="2701" b="0" i="0" u="none" strike="noStrike" spc="54">
                <a:solidFill>
                  <a:srgbClr val="180D0A"/>
                </a:solidFill>
                <a:latin typeface="Pretendard Medium"/>
              </a:rPr>
              <a:t> 1</a:t>
            </a:r>
            <a:r>
              <a:rPr lang="ko-KR" sz="2701" b="0" i="0" u="none" strike="noStrike" spc="54">
                <a:solidFill>
                  <a:srgbClr val="180D0A"/>
                </a:solidFill>
                <a:ea typeface="Pretendard Medium"/>
              </a:rPr>
              <a:t>일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120100" y="12661900"/>
            <a:ext cx="2489200" cy="3556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r">
              <a:lnSpc>
                <a:spcPct val="107899"/>
              </a:lnSpc>
            </a:pPr>
            <a:r>
              <a:rPr lang="en" sz="2000" b="0" i="0" u="none" strike="noStrike" spc="-20">
                <a:solidFill>
                  <a:srgbClr val="FFFFFF"/>
                </a:solidFill>
                <a:latin typeface="Pretendard Medium"/>
              </a:rPr>
              <a:t>KOREA IT ACADEMY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48400" y="762000"/>
            <a:ext cx="2120900" cy="14859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413000" y="4191000"/>
            <a:ext cx="14033500" cy="4229100"/>
          </a:xfrm>
          <a:prstGeom prst="rect">
            <a:avLst/>
          </a:prstGeom>
        </p:spPr>
        <p:txBody>
          <a:bodyPr lIns="0" tIns="253994" rIns="0" bIns="0" rtlCol="0" anchor="t"/>
          <a:lstStyle/>
          <a:p>
            <a:pPr lvl="0" algn="l">
              <a:lnSpc>
                <a:spcPct val="91299"/>
              </a:lnSpc>
            </a:pPr>
            <a:r>
              <a:rPr lang="en" sz="13333" b="0" i="0" u="none" strike="noStrike">
                <a:solidFill>
                  <a:srgbClr val="180D0A"/>
                </a:solidFill>
                <a:ea typeface="Pretendard SemiBold"/>
              </a:rPr>
              <a:t>빅데이터</a:t>
            </a:r>
          </a:p>
          <a:p>
            <a:pPr lvl="0" algn="l">
              <a:lnSpc>
                <a:spcPct val="91299"/>
              </a:lnSpc>
            </a:pPr>
            <a:r>
              <a:rPr lang="ko-KR" sz="13333" b="0" i="0" u="none" strike="noStrike">
                <a:solidFill>
                  <a:srgbClr val="2C2C2C"/>
                </a:solidFill>
                <a:ea typeface="Pretendard SemiBold"/>
              </a:rPr>
              <a:t>분석</a:t>
            </a:r>
            <a:r>
              <a:rPr lang="en-US" sz="13333" b="0" i="0" u="none" strike="noStrike">
                <a:solidFill>
                  <a:srgbClr val="2C2C2C"/>
                </a:solidFill>
                <a:latin typeface="Pretendard SemiBold"/>
              </a:rPr>
              <a:t> </a:t>
            </a:r>
            <a:r>
              <a:rPr lang="ko-KR" sz="13333" b="0" i="0" u="none" strike="noStrike">
                <a:solidFill>
                  <a:srgbClr val="2C2C2C"/>
                </a:solidFill>
                <a:ea typeface="Pretendard SemiBold"/>
              </a:rPr>
              <a:t>기획</a:t>
            </a:r>
            <a:r>
              <a:rPr lang="en-US" sz="13333" b="0" i="0" u="none" strike="noStrike">
                <a:solidFill>
                  <a:srgbClr val="2C2C2C"/>
                </a:solidFill>
                <a:latin typeface="Pretendard SemiBold"/>
              </a:rPr>
              <a:t> </a:t>
            </a:r>
            <a:r>
              <a:rPr lang="ko-KR" sz="13333" b="0" i="0" u="none" strike="noStrike">
                <a:solidFill>
                  <a:srgbClr val="2C2C2C"/>
                </a:solidFill>
                <a:ea typeface="Pretendard SemiBold"/>
              </a:rPr>
              <a:t>보고서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91700" y="11760200"/>
            <a:ext cx="5969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500" y="3695700"/>
            <a:ext cx="3556000" cy="254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0972800" y="3035300"/>
            <a:ext cx="7747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" sz="2666" b="0" i="0" u="none" strike="noStrike">
                <a:solidFill>
                  <a:srgbClr val="54443F"/>
                </a:solidFill>
                <a:latin typeface="Pretendard Medium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52000" y="3962400"/>
            <a:ext cx="3429000" cy="546100"/>
          </a:xfrm>
          <a:prstGeom prst="rect">
            <a:avLst/>
          </a:prstGeom>
        </p:spPr>
        <p:txBody>
          <a:bodyPr lIns="0" tIns="1947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ko-KR" sz="3066" b="0" i="0" u="none" strike="noStrike">
                <a:solidFill>
                  <a:srgbClr val="180D0A"/>
                </a:solidFill>
                <a:ea typeface="Pretendard SemiBold"/>
              </a:rPr>
              <a:t>요건</a:t>
            </a:r>
            <a:r>
              <a:rPr lang="en-US" sz="3066" b="0" i="0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066" b="0" i="0" u="none" strike="noStrike">
                <a:solidFill>
                  <a:srgbClr val="180D0A"/>
                </a:solidFill>
                <a:ea typeface="Pretendard SemiBold"/>
              </a:rPr>
              <a:t>정의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715500" y="5016500"/>
            <a:ext cx="3568700" cy="21336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기존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요구사항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분석표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요구사항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명세화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Use Case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명세서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검증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기법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: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검토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500" y="9436100"/>
            <a:ext cx="35560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3000" y="9436100"/>
            <a:ext cx="3556000" cy="25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972800" y="8763000"/>
            <a:ext cx="7747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" sz="2666" b="0" i="0" u="none" strike="noStrike">
                <a:solidFill>
                  <a:srgbClr val="54443F"/>
                </a:solidFill>
                <a:latin typeface="Pretendard Medium"/>
              </a:rPr>
              <a:t>04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27300" y="8763000"/>
            <a:ext cx="7747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" sz="2666" b="0" i="0" u="none" strike="noStrike">
                <a:solidFill>
                  <a:srgbClr val="54443F"/>
                </a:solidFill>
                <a:latin typeface="Pretendard Medium"/>
              </a:rPr>
              <a:t>05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13900" y="9690100"/>
            <a:ext cx="3505200" cy="546100"/>
          </a:xfrm>
          <a:prstGeom prst="rect">
            <a:avLst/>
          </a:prstGeom>
        </p:spPr>
        <p:txBody>
          <a:bodyPr lIns="0" tIns="1947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" sz="3066" b="0" i="0" u="none" strike="noStrike">
                <a:solidFill>
                  <a:srgbClr val="180D0A"/>
                </a:solidFill>
                <a:ea typeface="Pretendard SemiBold"/>
              </a:rPr>
              <a:t>모델링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868400" y="9690100"/>
            <a:ext cx="3505200" cy="546100"/>
          </a:xfrm>
          <a:prstGeom prst="rect">
            <a:avLst/>
          </a:prstGeom>
        </p:spPr>
        <p:txBody>
          <a:bodyPr lIns="0" tIns="1947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ko-KR" sz="3066" b="0" i="0" u="none" strike="noStrike">
                <a:solidFill>
                  <a:srgbClr val="180D0A"/>
                </a:solidFill>
                <a:ea typeface="Pretendard SemiBold"/>
              </a:rPr>
              <a:t>결과</a:t>
            </a:r>
            <a:r>
              <a:rPr lang="en-US" sz="3066" b="0" i="0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066" b="0" i="0" u="none" strike="noStrike">
                <a:solidFill>
                  <a:srgbClr val="180D0A"/>
                </a:solidFill>
                <a:ea typeface="Pretendard SemiBold"/>
              </a:rPr>
              <a:t>적용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02800" y="10693400"/>
            <a:ext cx="3568700" cy="4445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분석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모델링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기획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(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분류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970000" y="10693400"/>
            <a:ext cx="3568700" cy="4445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분석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결과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적용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8400" y="3695700"/>
            <a:ext cx="3556000" cy="25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5252700" y="3035300"/>
            <a:ext cx="7747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" sz="2666" b="0" i="0" u="none" strike="noStrike">
                <a:solidFill>
                  <a:srgbClr val="54443F"/>
                </a:solidFill>
                <a:latin typeface="Pretendard Medium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160500" y="3962400"/>
            <a:ext cx="2959100" cy="546100"/>
          </a:xfrm>
          <a:prstGeom prst="rect">
            <a:avLst/>
          </a:prstGeom>
        </p:spPr>
        <p:txBody>
          <a:bodyPr lIns="0" tIns="1947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ko-KR" sz="3066" b="0" i="0" u="none" strike="noStrike">
                <a:solidFill>
                  <a:srgbClr val="180D0A"/>
                </a:solidFill>
                <a:ea typeface="Pretendard SemiBold"/>
              </a:rPr>
              <a:t>데이터</a:t>
            </a:r>
            <a:r>
              <a:rPr lang="en-US" sz="3066" b="0" i="0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066" b="0" i="0" u="none" strike="noStrike">
                <a:solidFill>
                  <a:srgbClr val="180D0A"/>
                </a:solidFill>
                <a:ea typeface="Pretendard SemiBold"/>
              </a:rPr>
              <a:t>확보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008100" y="5016500"/>
            <a:ext cx="3568700" cy="21336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개념적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설계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논리적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설계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외부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Open API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내부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수집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API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48300" y="3695700"/>
            <a:ext cx="3556000" cy="254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9545300" y="3035300"/>
            <a:ext cx="774700" cy="469900"/>
          </a:xfrm>
          <a:prstGeom prst="rect">
            <a:avLst/>
          </a:prstGeom>
        </p:spPr>
        <p:txBody>
          <a:bodyPr lIns="0" tIns="1693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en" sz="2666" b="0" i="0" u="none" strike="noStrike">
                <a:solidFill>
                  <a:srgbClr val="54443F"/>
                </a:solidFill>
                <a:latin typeface="Pretendard Medium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453100" y="3962400"/>
            <a:ext cx="2959100" cy="546100"/>
          </a:xfrm>
          <a:prstGeom prst="rect">
            <a:avLst/>
          </a:prstGeom>
        </p:spPr>
        <p:txBody>
          <a:bodyPr lIns="0" tIns="19473" rIns="0" bIns="0" rtlCol="0" anchor="t"/>
          <a:lstStyle/>
          <a:p>
            <a:pPr lvl="0" algn="ctr">
              <a:lnSpc>
                <a:spcPct val="107899"/>
              </a:lnSpc>
            </a:pPr>
            <a:r>
              <a:rPr lang="ko-KR" sz="3066" b="0" i="0" u="none" strike="noStrike">
                <a:solidFill>
                  <a:srgbClr val="180D0A"/>
                </a:solidFill>
                <a:ea typeface="Pretendard SemiBold"/>
              </a:rPr>
              <a:t>데이터</a:t>
            </a:r>
            <a:r>
              <a:rPr lang="en-US" sz="3066" b="0" i="0" u="none" strike="noStrike">
                <a:solidFill>
                  <a:srgbClr val="180D0A"/>
                </a:solidFill>
                <a:latin typeface="Pretendard SemiBold"/>
              </a:rPr>
              <a:t> </a:t>
            </a:r>
            <a:r>
              <a:rPr lang="ko-KR" sz="3066" b="0" i="0" u="none" strike="noStrike">
                <a:solidFill>
                  <a:srgbClr val="180D0A"/>
                </a:solidFill>
                <a:ea typeface="Pretendard SemiBold"/>
              </a:rPr>
              <a:t>탐색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288000" y="5016500"/>
            <a:ext cx="3568700" cy="444500"/>
          </a:xfrm>
          <a:prstGeom prst="rect">
            <a:avLst/>
          </a:prstGeom>
        </p:spPr>
        <p:txBody>
          <a:bodyPr rtlCol="0" anchor="t"/>
          <a:lstStyle/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데이터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분석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 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기획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(</a:t>
            </a:r>
            <a:r>
              <a:rPr lang="ko-KR" sz="2466" b="0" i="0" u="none" strike="noStrike">
                <a:solidFill>
                  <a:srgbClr val="2C2C2C"/>
                </a:solidFill>
                <a:ea typeface="Pretendard Regular"/>
              </a:rPr>
              <a:t>분류</a:t>
            </a:r>
            <a:r>
              <a:rPr lang="en-US" sz="2466" b="0" i="0" u="none" strike="noStrike">
                <a:solidFill>
                  <a:srgbClr val="2C2C2C"/>
                </a:solidFill>
                <a:latin typeface="Pretendard Regular"/>
              </a:rPr>
              <a:t>)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1905000" y="6146800"/>
            <a:ext cx="6400800" cy="1422400"/>
          </a:xfrm>
          <a:prstGeom prst="rect">
            <a:avLst/>
          </a:prstGeom>
        </p:spPr>
        <p:txBody>
          <a:bodyPr lIns="0" tIns="101597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7998" b="0" i="0" u="none" strike="noStrike">
                <a:solidFill>
                  <a:srgbClr val="180D0A"/>
                </a:solidFill>
                <a:latin typeface="Pretendard SemiBold"/>
              </a:rPr>
              <a:t>CONTENTS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1400" y="762000"/>
            <a:ext cx="2120900" cy="14859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21120100" y="12661900"/>
            <a:ext cx="2489200" cy="3556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r">
              <a:lnSpc>
                <a:spcPct val="107899"/>
              </a:lnSpc>
            </a:pPr>
            <a:r>
              <a:rPr lang="en" sz="2000" b="0" i="0" u="none" strike="noStrike" spc="-20">
                <a:solidFill>
                  <a:srgbClr val="FFFFFF"/>
                </a:solidFill>
                <a:latin typeface="Pretendard Medium"/>
              </a:rPr>
              <a:t>KOREA IT ACADEMY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91700" y="11760200"/>
            <a:ext cx="5969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879600" y="762000"/>
            <a:ext cx="29718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7333" b="0" i="0" u="none" strike="noStrike">
                <a:solidFill>
                  <a:srgbClr val="FFFFFF"/>
                </a:solidFill>
                <a:latin typeface="Pretendard SemiBold"/>
              </a:rPr>
              <a:t>01-01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29300" y="2197100"/>
            <a:ext cx="12738100" cy="1308100"/>
          </a:xfrm>
          <a:prstGeom prst="rect">
            <a:avLst/>
          </a:prstGeom>
        </p:spPr>
        <p:txBody>
          <a:bodyPr lIns="0" tIns="93131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기존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요구사항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분석표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20100" y="5727700"/>
            <a:ext cx="952500" cy="952500"/>
          </a:xfrm>
          <a:prstGeom prst="rect">
            <a:avLst/>
          </a:prstGeom>
        </p:spPr>
      </p:pic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714500" y="4254500"/>
          <a:ext cx="20955000" cy="7899400"/>
        </p:xfrm>
        <a:graphic>
          <a:graphicData uri="http://schemas.openxmlformats.org/drawingml/2006/table">
            <a:tbl>
              <a:tblPr/>
              <a:tblGrid>
                <a:gridCol w="187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67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9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25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455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요구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ID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유형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요구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요청자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804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R-001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기능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피부타입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선택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&amp;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원하는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취향의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성향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테스트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확인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기능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기획팀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UX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팀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804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R-002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성능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페이지에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리스트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목록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생성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속도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10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이내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백엔드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개발자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성능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테스트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담당자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804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R-003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보안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사용자의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피부타입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취향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암호화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저장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개인정보위원회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보안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담당자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804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R-004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UI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별도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심리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검사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테스트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형태로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피부타입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구별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취향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파악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UI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디자인팀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UX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기획자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8804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R-005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상시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제품들도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사용자의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페이지에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실시간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업데이트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반영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엔지니어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운영팀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8804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R-006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접근성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사용자의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원활한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테스트를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위한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구체적인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안내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전달사항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제공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기획자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접근성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검토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위원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88804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R-007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통계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구입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개수별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상위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선정하여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페이지에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우선순위별로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제공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마케팅팀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88804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R-008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알고리즘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콘텐츠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기반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필터링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선호도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따른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제공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AI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개발자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추천시스템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담당자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88804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R-009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알림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이벤트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추가시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알림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신청한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사용자의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한에서만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실시간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알림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제공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운영팀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마케팅팀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752600" y="6096000"/>
          <a:ext cx="20866100" cy="4445000"/>
        </p:xfrm>
        <a:graphic>
          <a:graphicData uri="http://schemas.openxmlformats.org/drawingml/2006/table">
            <a:tbl>
              <a:tblPr/>
              <a:tblGrid>
                <a:gridCol w="187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8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3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562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92119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요구사항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 ID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요구사항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설명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우선순위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입력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데이터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출력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665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RQ-01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2665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RQ-02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5829300" y="3822700"/>
            <a:ext cx="12738100" cy="1308100"/>
          </a:xfrm>
          <a:prstGeom prst="rect">
            <a:avLst/>
          </a:prstGeom>
        </p:spPr>
        <p:txBody>
          <a:bodyPr lIns="0" tIns="27939" rIns="0" bIns="0" rtlCol="0" anchor="t"/>
          <a:lstStyle/>
          <a:p>
            <a:pPr lvl="0" algn="ctr">
              <a:lnSpc>
                <a:spcPct val="111220"/>
              </a:lnSpc>
            </a:pP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요구사항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명세화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79600" y="762000"/>
            <a:ext cx="29718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7333" b="0" i="0" u="none" strike="noStrike">
                <a:solidFill>
                  <a:srgbClr val="FFFFFF"/>
                </a:solidFill>
                <a:latin typeface="Pretendard SemiBold"/>
              </a:rPr>
              <a:t>01-02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159000" y="4038600"/>
          <a:ext cx="20078700" cy="7785100"/>
        </p:xfrm>
        <a:graphic>
          <a:graphicData uri="http://schemas.openxmlformats.org/drawingml/2006/table">
            <a:tbl>
              <a:tblPr/>
              <a:tblGrid>
                <a:gridCol w="589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81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684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666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항목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666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799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Use Case </a:t>
                      </a:r>
                      <a:r>
                        <a:rPr lang="ko-KR" sz="2799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명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개요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사전조건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기본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흐름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(Basic Flow)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대안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흐름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(Alternative Flow)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예외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흐름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(Exception Flow)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5816600" y="1460500"/>
            <a:ext cx="12738100" cy="2209800"/>
          </a:xfrm>
          <a:prstGeom prst="rect">
            <a:avLst/>
          </a:prstGeom>
        </p:spPr>
        <p:txBody>
          <a:bodyPr lIns="0" tIns="27939" rIns="0" bIns="0" rtlCol="0" anchor="t"/>
          <a:lstStyle/>
          <a:p>
            <a:pPr lvl="0" algn="ctr">
              <a:lnSpc>
                <a:spcPct val="111220"/>
              </a:lnSpc>
            </a:pP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Use Case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명세서</a:t>
            </a:r>
          </a:p>
          <a:p>
            <a:pPr lvl="0" algn="ctr">
              <a:lnSpc>
                <a:spcPct val="111220"/>
              </a:lnSpc>
            </a:pP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(</a:t>
            </a:r>
            <a:r>
              <a:rPr lang="ko-KR" sz="5333" b="0" i="0" u="none" strike="noStrike">
                <a:solidFill>
                  <a:srgbClr val="54443F"/>
                </a:solidFill>
                <a:ea typeface="Pretendard Bold"/>
              </a:rPr>
              <a:t>피부타입별</a:t>
            </a: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0" i="0" u="none" strike="noStrike">
                <a:solidFill>
                  <a:srgbClr val="54443F"/>
                </a:solidFill>
                <a:ea typeface="Pretendard Bold"/>
              </a:rPr>
              <a:t>상품</a:t>
            </a: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0" i="0" u="none" strike="noStrike">
                <a:solidFill>
                  <a:srgbClr val="54443F"/>
                </a:solidFill>
                <a:ea typeface="Pretendard Bold"/>
              </a:rPr>
              <a:t>추천</a:t>
            </a: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79600" y="762000"/>
            <a:ext cx="29718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7333" b="0" i="0" u="none" strike="noStrike">
                <a:solidFill>
                  <a:srgbClr val="FFFFFF"/>
                </a:solidFill>
                <a:latin typeface="Pretendard SemiBold"/>
              </a:rPr>
              <a:t>01-03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159000" y="4038600"/>
          <a:ext cx="20078700" cy="7785100"/>
        </p:xfrm>
        <a:graphic>
          <a:graphicData uri="http://schemas.openxmlformats.org/drawingml/2006/table">
            <a:tbl>
              <a:tblPr/>
              <a:tblGrid>
                <a:gridCol w="589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81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684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666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항목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666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799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Use Case </a:t>
                      </a:r>
                      <a:r>
                        <a:rPr lang="ko-KR" sz="2799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명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개요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사전조건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기본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흐름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(Basic Flow)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대안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흐름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(Alternative Flow)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5680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예외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흐름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(Exception Flow)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5816600" y="1460500"/>
            <a:ext cx="12738100" cy="2209800"/>
          </a:xfrm>
          <a:prstGeom prst="rect">
            <a:avLst/>
          </a:prstGeom>
        </p:spPr>
        <p:txBody>
          <a:bodyPr lIns="0" tIns="27939" rIns="0" bIns="0" rtlCol="0" anchor="t"/>
          <a:lstStyle/>
          <a:p>
            <a:pPr lvl="0" algn="ctr">
              <a:lnSpc>
                <a:spcPct val="111220"/>
              </a:lnSpc>
            </a:pP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Use Case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명세서</a:t>
            </a:r>
          </a:p>
          <a:p>
            <a:pPr lvl="0" algn="ctr">
              <a:lnSpc>
                <a:spcPct val="111220"/>
              </a:lnSpc>
            </a:pP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(</a:t>
            </a:r>
            <a:r>
              <a:rPr lang="ko-KR" sz="5333" b="0" i="0" u="none" strike="noStrike">
                <a:solidFill>
                  <a:srgbClr val="54443F"/>
                </a:solidFill>
                <a:ea typeface="Pretendard Bold"/>
              </a:rPr>
              <a:t>사용자</a:t>
            </a: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0" i="0" u="none" strike="noStrike">
                <a:solidFill>
                  <a:srgbClr val="54443F"/>
                </a:solidFill>
                <a:ea typeface="Pretendard Bold"/>
              </a:rPr>
              <a:t>개인</a:t>
            </a: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0" i="0" u="none" strike="noStrike">
                <a:solidFill>
                  <a:srgbClr val="54443F"/>
                </a:solidFill>
                <a:ea typeface="Pretendard Bold"/>
              </a:rPr>
              <a:t>취향</a:t>
            </a: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0" i="0" u="none" strike="noStrike">
                <a:solidFill>
                  <a:srgbClr val="54443F"/>
                </a:solidFill>
                <a:ea typeface="Pretendard Bold"/>
              </a:rPr>
              <a:t>맞춤</a:t>
            </a: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0" i="0" u="none" strike="noStrike">
                <a:solidFill>
                  <a:srgbClr val="54443F"/>
                </a:solidFill>
                <a:ea typeface="Pretendard Bold"/>
              </a:rPr>
              <a:t>상품</a:t>
            </a: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 </a:t>
            </a:r>
            <a:r>
              <a:rPr lang="ko-KR" sz="5333" b="0" i="0" u="none" strike="noStrike">
                <a:solidFill>
                  <a:srgbClr val="54443F"/>
                </a:solidFill>
                <a:ea typeface="Pretendard Bold"/>
              </a:rPr>
              <a:t>제공</a:t>
            </a:r>
            <a:r>
              <a:rPr lang="en-US" sz="5333" b="0" i="0" u="none" strike="noStrike">
                <a:solidFill>
                  <a:srgbClr val="54443F"/>
                </a:solidFill>
                <a:latin typeface="Pretendard Bold"/>
              </a:rPr>
              <a:t>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79600" y="762000"/>
            <a:ext cx="29718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7333" b="0" i="0" u="none" strike="noStrike">
                <a:solidFill>
                  <a:srgbClr val="FFFFFF"/>
                </a:solidFill>
                <a:latin typeface="Pretendard SemiBold"/>
              </a:rPr>
              <a:t>01-03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159000" y="4038600"/>
          <a:ext cx="20078700" cy="8432800"/>
        </p:xfrm>
        <a:graphic>
          <a:graphicData uri="http://schemas.openxmlformats.org/drawingml/2006/table">
            <a:tbl>
              <a:tblPr/>
              <a:tblGrid>
                <a:gridCol w="589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81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684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666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항목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666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799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목적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사전조건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입력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데이터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실행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절차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기대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결과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실제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결과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테스트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시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기록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판정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5816600" y="1460500"/>
            <a:ext cx="12738100" cy="2209800"/>
          </a:xfrm>
          <a:prstGeom prst="rect">
            <a:avLst/>
          </a:prstGeom>
        </p:spPr>
        <p:txBody>
          <a:bodyPr lIns="0" tIns="27939" rIns="0" bIns="0" rtlCol="0" anchor="t"/>
          <a:lstStyle/>
          <a:p>
            <a:pPr lvl="0" algn="ctr">
              <a:lnSpc>
                <a:spcPct val="111220"/>
              </a:lnSpc>
            </a:pP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검증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기법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: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검토</a:t>
            </a:r>
          </a:p>
          <a:p>
            <a:pPr lvl="0" algn="ctr">
              <a:lnSpc>
                <a:spcPct val="111220"/>
              </a:lnSpc>
            </a:pPr>
            <a:r>
              <a:rPr lang="en" sz="5333" b="0" i="0" u="none" strike="noStrike">
                <a:solidFill>
                  <a:srgbClr val="54443F"/>
                </a:solidFill>
                <a:latin typeface="Pretendard Bold"/>
              </a:rPr>
              <a:t>(Test Case ID: TC-01)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79600" y="762000"/>
            <a:ext cx="29718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7333" b="0" i="0" u="none" strike="noStrike">
                <a:solidFill>
                  <a:srgbClr val="FFFFFF"/>
                </a:solidFill>
                <a:latin typeface="Pretendard SemiBold"/>
              </a:rPr>
              <a:t>01-04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2159000" y="4038600"/>
          <a:ext cx="20078700" cy="8432800"/>
        </p:xfrm>
        <a:graphic>
          <a:graphicData uri="http://schemas.openxmlformats.org/drawingml/2006/table">
            <a:tbl>
              <a:tblPr/>
              <a:tblGrid>
                <a:gridCol w="5894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81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684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666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항목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666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799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목적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사전조건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입력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데이터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실행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절차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기대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결과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실제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결과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테스트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시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기록</a:t>
                      </a:r>
                      <a:r>
                        <a:rPr lang="en-US" sz="2800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8311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800" b="0" i="0" u="none" strike="noStrike">
                          <a:solidFill>
                            <a:srgbClr val="54443F"/>
                          </a:solidFill>
                          <a:ea typeface="Pretendard SemiBold"/>
                        </a:rPr>
                        <a:t>판정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5816600" y="1460500"/>
            <a:ext cx="12738100" cy="2209800"/>
          </a:xfrm>
          <a:prstGeom prst="rect">
            <a:avLst/>
          </a:prstGeom>
        </p:spPr>
        <p:txBody>
          <a:bodyPr lIns="0" tIns="27939" rIns="0" bIns="0" rtlCol="0" anchor="t"/>
          <a:lstStyle/>
          <a:p>
            <a:pPr lvl="0" algn="ctr">
              <a:lnSpc>
                <a:spcPct val="111220"/>
              </a:lnSpc>
            </a:pP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검증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기법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: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검토</a:t>
            </a:r>
          </a:p>
          <a:p>
            <a:pPr lvl="0" algn="ctr">
              <a:lnSpc>
                <a:spcPct val="111220"/>
              </a:lnSpc>
            </a:pPr>
            <a:r>
              <a:rPr lang="en" sz="5333" b="0" i="0" u="none" strike="noStrike">
                <a:solidFill>
                  <a:srgbClr val="54443F"/>
                </a:solidFill>
                <a:latin typeface="Pretendard Bold"/>
              </a:rPr>
              <a:t>(Test Case ID: TC-02)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79600" y="762000"/>
            <a:ext cx="29718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7333" b="0" i="0" u="none" strike="noStrike">
                <a:solidFill>
                  <a:srgbClr val="FFFFFF"/>
                </a:solidFill>
                <a:latin typeface="Pretendard SemiBold"/>
              </a:rPr>
              <a:t>01-04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829300" y="2197100"/>
            <a:ext cx="12738100" cy="1308100"/>
          </a:xfrm>
          <a:prstGeom prst="rect">
            <a:avLst/>
          </a:prstGeom>
        </p:spPr>
        <p:txBody>
          <a:bodyPr lIns="0" tIns="93131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후보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데이터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수집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방식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485900" y="4127500"/>
          <a:ext cx="21412200" cy="8178800"/>
        </p:xfrm>
        <a:graphic>
          <a:graphicData uri="http://schemas.openxmlformats.org/drawingml/2006/table">
            <a:tbl>
              <a:tblPr/>
              <a:tblGrid>
                <a:gridCol w="904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07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18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516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88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415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802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후보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항목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수집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경로</a:t>
                      </a:r>
                      <a:b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</a:b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수집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방식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수집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주기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활용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목적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903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피부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타입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정보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진단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테스트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페이지를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통해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입력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설문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입력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라디오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버튼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1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회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필요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수정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가능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피부에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적합한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필터링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903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정보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타입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등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화장품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제조사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웹사이트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공공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API 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: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식약처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화해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등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크롤링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API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연동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주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1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회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이상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업데이트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특성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매칭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정확도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향상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903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행동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 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조회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장바구니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DAYFUL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플랫폼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내부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로그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자동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로그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수집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실시간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취향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협업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필터링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903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리뷰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평점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DAYFUL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내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리뷰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시스템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직접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입력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실시간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감성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리뷰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기반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903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트렌드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키워드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(SNS,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커뮤니티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등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인스타그램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유튜브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뷰티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커뮤니티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크롤링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키워드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추출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주간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유행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반영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,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실시간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인기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제품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추천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2903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성분에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대한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/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비선호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정보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회원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설정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or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설문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다중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선택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입력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1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회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(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수정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가능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기피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필터링으로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사용자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만족도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향상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2590800" y="762000"/>
            <a:ext cx="1562100" cy="1422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8000" b="0" i="0" u="none" strike="noStrike">
                <a:solidFill>
                  <a:srgbClr val="FFFFFF"/>
                </a:solidFill>
                <a:latin typeface="Pretendard SemiBold"/>
              </a:rPr>
              <a:t>02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829300" y="1816100"/>
            <a:ext cx="12738100" cy="1308100"/>
          </a:xfrm>
          <a:prstGeom prst="rect">
            <a:avLst/>
          </a:prstGeom>
        </p:spPr>
        <p:txBody>
          <a:bodyPr lIns="0" tIns="93131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개념적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설계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485900" y="3683000"/>
          <a:ext cx="21386800" cy="8077200"/>
        </p:xfrm>
        <a:graphic>
          <a:graphicData uri="http://schemas.openxmlformats.org/drawingml/2006/table">
            <a:tbl>
              <a:tblPr/>
              <a:tblGrid>
                <a:gridCol w="904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8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6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6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9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802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엔터티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핵심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속성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관계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비고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7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8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9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879600" y="762000"/>
            <a:ext cx="29718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7333" b="0" i="0" u="none" strike="noStrike">
                <a:solidFill>
                  <a:srgbClr val="FFFFFF"/>
                </a:solidFill>
                <a:latin typeface="Pretendard SemiBold"/>
              </a:rPr>
              <a:t>02-01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829300" y="1816100"/>
            <a:ext cx="12738100" cy="1308100"/>
          </a:xfrm>
          <a:prstGeom prst="rect">
            <a:avLst/>
          </a:prstGeom>
        </p:spPr>
        <p:txBody>
          <a:bodyPr lIns="0" tIns="93131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논리적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설계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485900" y="3683000"/>
          <a:ext cx="21386800" cy="8077200"/>
        </p:xfrm>
        <a:graphic>
          <a:graphicData uri="http://schemas.openxmlformats.org/drawingml/2006/table">
            <a:tbl>
              <a:tblPr/>
              <a:tblGrid>
                <a:gridCol w="881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2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26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6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9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802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엔터티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핵심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속성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관계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비고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7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8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9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841500" y="749300"/>
            <a:ext cx="30734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7333" b="0" i="0" u="none" strike="noStrike">
                <a:solidFill>
                  <a:srgbClr val="FFFFFF"/>
                </a:solidFill>
                <a:latin typeface="Pretendard SemiBold"/>
              </a:rPr>
              <a:t>02-02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829300" y="2120900"/>
            <a:ext cx="12738100" cy="1308100"/>
          </a:xfrm>
          <a:prstGeom prst="rect">
            <a:avLst/>
          </a:prstGeom>
        </p:spPr>
        <p:txBody>
          <a:bodyPr lIns="0" tIns="93131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외부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Open API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600200" y="3911600"/>
          <a:ext cx="21183600" cy="8077200"/>
        </p:xfrm>
        <a:graphic>
          <a:graphicData uri="http://schemas.openxmlformats.org/drawingml/2006/table">
            <a:tbl>
              <a:tblPr/>
              <a:tblGrid>
                <a:gridCol w="9049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1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9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48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36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73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802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제공처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API /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엔드포인트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메서드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Base URL · Endpoint(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예시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비고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7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8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0700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9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841500" y="762000"/>
            <a:ext cx="30734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7333" b="0" i="0" u="none" strike="noStrike">
                <a:solidFill>
                  <a:srgbClr val="FFFFFF"/>
                </a:solidFill>
                <a:latin typeface="Pretendard SemiBold"/>
              </a:rPr>
              <a:t>02-03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829300" y="1358900"/>
            <a:ext cx="12738100" cy="1308100"/>
          </a:xfrm>
          <a:prstGeom prst="rect">
            <a:avLst/>
          </a:prstGeom>
        </p:spPr>
        <p:txBody>
          <a:bodyPr lIns="0" tIns="93131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7333" b="0" i="0" u="none" strike="noStrike">
                <a:solidFill>
                  <a:srgbClr val="180D0A"/>
                </a:solidFill>
                <a:ea typeface="Pretendard Bold"/>
              </a:rPr>
              <a:t>내부</a:t>
            </a:r>
            <a:r>
              <a:rPr lang="en-US" sz="7333" b="0" i="0" u="none" strike="noStrike">
                <a:solidFill>
                  <a:srgbClr val="180D0A"/>
                </a:solidFill>
                <a:latin typeface="Pretendard Bold"/>
              </a:rPr>
              <a:t> Open API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1435100" y="3048000"/>
          <a:ext cx="21501100" cy="9550400"/>
        </p:xfrm>
        <a:graphic>
          <a:graphicData uri="http://schemas.openxmlformats.org/drawingml/2006/table">
            <a:tbl>
              <a:tblPr/>
              <a:tblGrid>
                <a:gridCol w="2485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2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6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280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28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8542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0802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시스템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API /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엔드포인트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메서드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요청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파라미터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/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바디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타입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반환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자료형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(</a:t>
                      </a:r>
                      <a:r>
                        <a:rPr lang="ko-KR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타입</a:t>
                      </a:r>
                      <a:r>
                        <a:rPr lang="en-US" sz="2133" b="0" i="0" u="none" strike="noStrike">
                          <a:solidFill>
                            <a:srgbClr val="FFFFFF"/>
                          </a:solidFill>
                          <a:latin typeface="Pretendard SemiBold"/>
                        </a:rPr>
                        <a:t>)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비고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082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수집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API GW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082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수집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API GW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841500" y="762000"/>
            <a:ext cx="3073400" cy="13081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7333" b="0" i="0" u="none" strike="noStrike">
                <a:solidFill>
                  <a:srgbClr val="FFFFFF"/>
                </a:solidFill>
                <a:latin typeface="Pretendard SemiBold"/>
              </a:rPr>
              <a:t>02-04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829300" y="1244600"/>
            <a:ext cx="12725400" cy="1257300"/>
          </a:xfrm>
          <a:prstGeom prst="rect">
            <a:avLst/>
          </a:prstGeom>
        </p:spPr>
        <p:txBody>
          <a:bodyPr lIns="0" tIns="89744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7066" b="0" i="0" u="none" strike="noStrike" dirty="0">
                <a:solidFill>
                  <a:srgbClr val="180D0A"/>
                </a:solidFill>
                <a:ea typeface="Pretendard Bold"/>
              </a:rPr>
              <a:t>데이터</a:t>
            </a:r>
            <a:r>
              <a:rPr lang="en-US" sz="7066" b="0" i="0" u="none" strike="noStrike" dirty="0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0" i="0" u="none" strike="noStrike" dirty="0">
                <a:solidFill>
                  <a:srgbClr val="180D0A"/>
                </a:solidFill>
                <a:ea typeface="Pretendard Bold"/>
              </a:rPr>
              <a:t>분석</a:t>
            </a:r>
            <a:r>
              <a:rPr lang="en-US" sz="7066" b="0" i="0" u="none" strike="noStrike" dirty="0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0" i="0" u="none" strike="noStrike" dirty="0">
                <a:solidFill>
                  <a:srgbClr val="180D0A"/>
                </a:solidFill>
                <a:ea typeface="Pretendard Bold"/>
              </a:rPr>
              <a:t>기획</a:t>
            </a:r>
            <a:r>
              <a:rPr lang="en-US" sz="7066" b="0" i="0" u="none" strike="noStrike" dirty="0">
                <a:solidFill>
                  <a:srgbClr val="180D0A"/>
                </a:solidFill>
                <a:latin typeface="Pretendard Bold"/>
              </a:rPr>
              <a:t> (</a:t>
            </a:r>
            <a:r>
              <a:rPr lang="ko-KR" sz="7066" b="0" i="0" u="none" strike="noStrike" dirty="0">
                <a:solidFill>
                  <a:srgbClr val="180D0A"/>
                </a:solidFill>
                <a:ea typeface="Pretendard Bold"/>
              </a:rPr>
              <a:t>분류</a:t>
            </a:r>
            <a:r>
              <a:rPr lang="en-US" sz="7066" b="0" i="0" u="none" strike="noStrike" dirty="0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0" i="0" u="none" strike="noStrike" dirty="0">
                <a:solidFill>
                  <a:srgbClr val="180D0A"/>
                </a:solidFill>
                <a:ea typeface="Pretendard Bold"/>
              </a:rPr>
              <a:t>기반</a:t>
            </a:r>
            <a:r>
              <a:rPr lang="en-US" sz="7066" b="0" i="0" u="none" strike="noStrike" dirty="0">
                <a:solidFill>
                  <a:srgbClr val="180D0A"/>
                </a:solidFill>
                <a:latin typeface="Pretendard Bold"/>
              </a:rPr>
              <a:t>)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360026"/>
              </p:ext>
            </p:extLst>
          </p:nvPr>
        </p:nvGraphicFramePr>
        <p:xfrm>
          <a:off x="1651000" y="2819400"/>
          <a:ext cx="21082398" cy="9968782"/>
        </p:xfrm>
        <a:graphic>
          <a:graphicData uri="http://schemas.openxmlformats.org/drawingml/2006/table">
            <a:tbl>
              <a:tblPr/>
              <a:tblGrid>
                <a:gridCol w="916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3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7009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구분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7246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목적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범위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사용자 피부타입과 취향 데이터를 활용하여 제품 선호 여부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추천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비추천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를 분류</a:t>
                      </a:r>
                      <a:endParaRPr lang="en-US" altLang="ko-KR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범위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연령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피부타입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지성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건성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복합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피부 고민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여드름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주름 등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선호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·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기피 성분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제품 카테고리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리뷰 데이터 활용</a:t>
                      </a:r>
                      <a:endParaRPr lang="ko-KR" sz="2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분류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기법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선정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기본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모델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로지스틱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회귀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(Logistic Regression)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고급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모델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Random Forest, </a:t>
                      </a:r>
                      <a:r>
                        <a:rPr lang="en-US" altLang="ko-KR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XGBoost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Neural Network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활용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방식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“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피부타입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·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성분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·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리뷰 감정 정보를 종합해 “추천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비추천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” 분류 결과 제공</a:t>
                      </a:r>
                      <a:endParaRPr lang="ko-KR" sz="2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2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절차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프로세스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문제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정의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(Problem Definition)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수집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(Data Collection)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전처리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(Data Preprocessing)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탐색적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분석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(EDA)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분할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(Train/Test Split)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모델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선택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및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학습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(Model Training)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모델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평가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(Model Evaluation)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모델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개선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(Model Optimization)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모델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배포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및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활용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(Deployment)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1760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분석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도구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환경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언어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라이브러리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Python (scikit-learn, TensorFlow, </a:t>
                      </a:r>
                      <a:r>
                        <a:rPr lang="en-US" altLang="ko-KR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Keras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NLTK/</a:t>
                      </a:r>
                      <a:r>
                        <a:rPr lang="en-US" altLang="ko-KR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TextBlob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환경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: </a:t>
                      </a:r>
                      <a:r>
                        <a:rPr lang="en-US" sz="20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Jupyter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Notebook, </a:t>
                      </a:r>
                      <a:r>
                        <a:rPr lang="en-US" sz="20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Colab</a:t>
                      </a:r>
                      <a:endParaRPr lang="en-US" sz="2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시각화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설명가능성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: matplotlib, seaborn, SHAP/LIME(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특징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중요도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·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국소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설명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성능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평가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지표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Accuracy(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정확도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), Precision(</a:t>
                      </a:r>
                      <a:r>
                        <a:rPr lang="ko-KR" alt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정밀도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), Recall(</a:t>
                      </a:r>
                      <a:r>
                        <a:rPr lang="ko-KR" altLang="en-US" sz="20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재현율</a:t>
                      </a: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F1-Score(macro/weighted)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ROC-AUC(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이진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다중클래스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en-US" sz="20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OvR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), PR-AUC(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불균형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시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권장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Confusion Matrix, KS-Statistic(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선택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17600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효과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피부타입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·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취향에 따른 제품 분류 정확도 향상</a:t>
                      </a:r>
                      <a:endParaRPr lang="en-US" altLang="ko-KR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고객별 불필요한 제품 추천 감소 → 만족도 증가</a:t>
                      </a:r>
                      <a:endParaRPr lang="en-US" altLang="ko-KR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제품 기획 및 마케팅에서 활용할 수 있는 세분화된 인사이트 제공</a:t>
                      </a:r>
                      <a:endParaRPr lang="ko-KR" sz="2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346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7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결론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본 프로젝트는 </a:t>
                      </a:r>
                      <a:r>
                        <a:rPr lang="ko-KR" altLang="en-US" sz="20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분류 모델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을 활용해 사용자별 제품 선호 여부를 효과적으로 예측하는 것을 목표로 한다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.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운영 단계에서는 데이터 불균형 처리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(SMOTE/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가중치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설명가능성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(SHAP)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확보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성능 모니터링을 통해 지속적인 개선을 추진한다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.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2578100" y="762000"/>
            <a:ext cx="1600200" cy="1422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8000" b="0" i="0" u="none" strike="noStrike">
                <a:solidFill>
                  <a:srgbClr val="FFFFFF"/>
                </a:solidFill>
                <a:latin typeface="Pretendard SemiBold"/>
              </a:rPr>
              <a:t>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829300" y="1473200"/>
            <a:ext cx="12725400" cy="1257300"/>
          </a:xfrm>
          <a:prstGeom prst="rect">
            <a:avLst/>
          </a:prstGeom>
        </p:spPr>
        <p:txBody>
          <a:bodyPr lIns="0" tIns="89744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7066" b="0" i="0" u="none" strike="noStrike">
                <a:solidFill>
                  <a:srgbClr val="180D0A"/>
                </a:solidFill>
                <a:ea typeface="Pretendard Bold"/>
              </a:rPr>
              <a:t>분석</a:t>
            </a:r>
            <a:r>
              <a:rPr lang="en-US" sz="7066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0" i="0" u="none" strike="noStrike">
                <a:solidFill>
                  <a:srgbClr val="180D0A"/>
                </a:solidFill>
                <a:ea typeface="Pretendard Bold"/>
              </a:rPr>
              <a:t>모델링</a:t>
            </a:r>
            <a:r>
              <a:rPr lang="en-US" sz="7066" b="0" i="0" u="none" strike="noStrike">
                <a:solidFill>
                  <a:srgbClr val="180D0A"/>
                </a:solidFill>
                <a:latin typeface="Pretendard Bold"/>
              </a:rPr>
              <a:t> (</a:t>
            </a:r>
            <a:r>
              <a:rPr lang="ko-KR" sz="7066" b="0" i="0" u="none" strike="noStrike">
                <a:solidFill>
                  <a:srgbClr val="180D0A"/>
                </a:solidFill>
                <a:ea typeface="Pretendard Bold"/>
              </a:rPr>
              <a:t>분류</a:t>
            </a:r>
            <a:r>
              <a:rPr lang="en-US" sz="7066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0" i="0" u="none" strike="noStrike">
                <a:solidFill>
                  <a:srgbClr val="180D0A"/>
                </a:solidFill>
                <a:ea typeface="Pretendard Bold"/>
              </a:rPr>
              <a:t>기반</a:t>
            </a:r>
            <a:r>
              <a:rPr lang="en-US" sz="7066" b="0" i="0" u="none" strike="noStrike">
                <a:solidFill>
                  <a:srgbClr val="180D0A"/>
                </a:solidFill>
                <a:latin typeface="Pretendard Bold"/>
              </a:rPr>
              <a:t>)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8110603"/>
              </p:ext>
            </p:extLst>
          </p:nvPr>
        </p:nvGraphicFramePr>
        <p:xfrm>
          <a:off x="1651000" y="3060700"/>
          <a:ext cx="21082703" cy="9504097"/>
        </p:xfrm>
        <a:graphic>
          <a:graphicData uri="http://schemas.openxmlformats.org/drawingml/2006/table">
            <a:tbl>
              <a:tblPr/>
              <a:tblGrid>
                <a:gridCol w="916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34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7009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구분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447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모델링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목적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접근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방법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사용자 피부타입과 취향 데이터를 활용하여 제품 선호 여부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추천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비추천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를 분류 </a:t>
                      </a:r>
                      <a:b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</a:b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지도학습 기반 분류 모델을 설계하여 맞춤형 추천 정확도 향상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766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후보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기법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선정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근거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로지스틱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회귀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(Logistic Regression):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단순하고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해석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용이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랜덤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포레스트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(Random Forest):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비선형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관계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학습에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강점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서포트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벡터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머신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(SVM):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고차원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분류에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적합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</a:t>
                      </a:r>
                      <a:r>
                        <a:rPr lang="en-US" altLang="ko-KR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XGBoost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신경망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대규모 데이터와 복잡한 패턴 학습에 효과적</a:t>
                      </a:r>
                      <a:endParaRPr lang="en-US" sz="2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3963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데이터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전처리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특징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엔지니어링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전처리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결측치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처리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텍스트 정제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수치형 변수 스케일링</a:t>
                      </a:r>
                      <a:endParaRPr lang="en-US" altLang="ko-KR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특징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생성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피부타입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+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연령대 조합 변수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성분 기반 선호도 변수</a:t>
                      </a:r>
                      <a:endParaRPr lang="en-US" altLang="ko-KR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불균형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처리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SMOTE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기법을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활용해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학습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보정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861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모델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관리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및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운영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계획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모델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관리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체계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버전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관리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파라미터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튜닝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기록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저장</a:t>
                      </a:r>
                      <a:endParaRPr lang="en-US" sz="2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운영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환경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REST API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형태로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배포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실시간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요청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시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분류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결과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제공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모니터링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Accuracy/F1-score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변화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추적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및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주기적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재학습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05169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성능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평가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기준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Accuracy (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정확도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  <a:endParaRPr lang="en-US" sz="2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Precision·Recall·F1-score (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추천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품질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평가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ROC-AUC (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이진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분류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성능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종합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지표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8172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기대</a:t>
                      </a:r>
                      <a:r>
                        <a:rPr lang="en-US" sz="2133" b="0" i="0" u="none" strike="noStrike">
                          <a:solidFill>
                            <a:srgbClr val="515151"/>
                          </a:solidFill>
                          <a:latin typeface="Pretendard SemiBold"/>
                        </a:rPr>
                        <a:t> </a:t>
                      </a:r>
                      <a:r>
                        <a:rPr lang="ko-KR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효과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사용자 취향과 피부타입에 따른 추천 정확도 향상</a:t>
                      </a:r>
                      <a:endParaRPr lang="en-US" altLang="ko-KR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불필요한 제품 추천 감소 → 고객 만족도 및 충성도 제고</a:t>
                      </a:r>
                      <a:endParaRPr lang="en-US" altLang="ko-KR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마케팅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제품 기획에서 활용 가능한 세그먼트 기반 인사이트 제공</a:t>
                      </a:r>
                      <a:endParaRPr lang="ko-KR" sz="2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6346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7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15151"/>
                          </a:solidFill>
                          <a:ea typeface="Pretendard SemiBold"/>
                        </a:rPr>
                        <a:t>결론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본 프로젝트는 </a:t>
                      </a:r>
                      <a:r>
                        <a:rPr lang="ko-KR" altLang="en-US" sz="20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분류 기반 추천 모델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을 활용하여 사용자별 제품 선호 여부를 예측한다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.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이 결과를 서비스 추천 시스템에 반영해 </a:t>
                      </a:r>
                      <a:r>
                        <a:rPr lang="ko-KR" altLang="en-US" sz="20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개인 맞춤형 경험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을 제공하고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동시에 기업의 마케팅 및 제품 전략 수립에도 기여한다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.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2565400" y="762000"/>
            <a:ext cx="1612900" cy="1422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8000" b="0" i="0" u="none" strike="noStrike">
                <a:solidFill>
                  <a:srgbClr val="FFFFFF"/>
                </a:solidFill>
                <a:latin typeface="Pretendard SemiBold"/>
              </a:rPr>
              <a:t>04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762000"/>
            <a:ext cx="22720300" cy="12204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5900" y="558800"/>
            <a:ext cx="3771900" cy="2006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829300" y="1117600"/>
            <a:ext cx="12725400" cy="1257300"/>
          </a:xfrm>
          <a:prstGeom prst="rect">
            <a:avLst/>
          </a:prstGeom>
        </p:spPr>
        <p:txBody>
          <a:bodyPr lIns="0" tIns="89744" rIns="0" bIns="0" rtlCol="0" anchor="t"/>
          <a:lstStyle/>
          <a:p>
            <a:pPr lvl="0" algn="ctr">
              <a:lnSpc>
                <a:spcPct val="99600"/>
              </a:lnSpc>
            </a:pPr>
            <a:r>
              <a:rPr lang="ko-KR" sz="7066" b="0" i="0" u="none" strike="noStrike">
                <a:solidFill>
                  <a:srgbClr val="180D0A"/>
                </a:solidFill>
                <a:ea typeface="Pretendard Bold"/>
              </a:rPr>
              <a:t>분석</a:t>
            </a:r>
            <a:r>
              <a:rPr lang="en-US" sz="7066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0" i="0" u="none" strike="noStrike">
                <a:solidFill>
                  <a:srgbClr val="180D0A"/>
                </a:solidFill>
                <a:ea typeface="Pretendard Bold"/>
              </a:rPr>
              <a:t>결과</a:t>
            </a:r>
            <a:r>
              <a:rPr lang="en-US" sz="7066" b="0" i="0" u="none" strike="noStrike">
                <a:solidFill>
                  <a:srgbClr val="180D0A"/>
                </a:solidFill>
                <a:latin typeface="Pretendard Bold"/>
              </a:rPr>
              <a:t> </a:t>
            </a:r>
            <a:r>
              <a:rPr lang="ko-KR" sz="7066" b="0" i="0" u="none" strike="noStrike">
                <a:solidFill>
                  <a:srgbClr val="180D0A"/>
                </a:solidFill>
                <a:ea typeface="Pretendard Bold"/>
              </a:rPr>
              <a:t>적용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341640"/>
              </p:ext>
            </p:extLst>
          </p:nvPr>
        </p:nvGraphicFramePr>
        <p:xfrm>
          <a:off x="1637948" y="2540000"/>
          <a:ext cx="21082703" cy="10401290"/>
        </p:xfrm>
        <a:graphic>
          <a:graphicData uri="http://schemas.openxmlformats.org/drawingml/2006/table">
            <a:tbl>
              <a:tblPr/>
              <a:tblGrid>
                <a:gridCol w="916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341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6218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번호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FFFFFF"/>
                          </a:solidFill>
                          <a:ea typeface="Pretendard SemiBold"/>
                        </a:rPr>
                        <a:t>구분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 dirty="0">
                          <a:solidFill>
                            <a:srgbClr val="FFFFFF"/>
                          </a:solidFill>
                          <a:ea typeface="Pretendard SemiBold"/>
                        </a:rPr>
                        <a:t>내용</a:t>
                      </a:r>
                      <a:endParaRPr lang="en-US" sz="1100"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44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6275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1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분석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결과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시각화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방안</a:t>
                      </a:r>
                      <a:endParaRPr lang="en-US" sz="2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대시보드 구성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피부타입별 사용자 분포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성분 선호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기피 현황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추천 제품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TOP 5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시각화 도구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Tableau, Power BI, Python(matplotlib, seaborn)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예시 차트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파이차트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피부타입 비율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), 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바차트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제품 카테고리별 선호도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), 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워드클라우드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리뷰 키워드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트렌드 라인차트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성분 선호 변화 추이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  <a:endParaRPr lang="en-US" sz="2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9624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380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2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협업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및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실행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계획</a:t>
                      </a:r>
                      <a:endParaRPr lang="en-US" sz="2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참여 주체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화장품 브랜드사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온라인 쇼핑몰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 </a:t>
                      </a:r>
                      <a:r>
                        <a:rPr lang="ko-KR" altLang="en-US" sz="200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분석팀</a:t>
                      </a:r>
                      <a:endParaRPr lang="en-US" altLang="ko-KR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역할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분담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 제공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브랜드사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 /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모델 구축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데이터팀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 /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서비스 운영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플랫폼 기업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협업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방식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정기 회의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API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 공유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공동 마케팅</a:t>
                      </a:r>
                      <a:endParaRPr lang="en-US" altLang="ko-KR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보고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체계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월간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성과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보고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및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분기별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개선안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제시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327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3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비즈니스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적용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전략</a:t>
                      </a:r>
                      <a:endParaRPr lang="en-US" sz="2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4538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서비스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단계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적용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1. 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시범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운영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특정 제품군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예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스킨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로션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에 추천 시스템 시범 서비스 제공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2. 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데이터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확대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적용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피부타입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·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연령대별 데이터 누적 시 추천 정확도 개선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3. 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전국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서비스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확장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모든 화장품 카테고리로 확대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주요 쇼핑몰과 연계</a:t>
                      </a:r>
                      <a:b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</a:b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활용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방안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1.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마케팅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고객 세분화에 기반한 타겟 광고 및 프로모션 활용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2.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제품 개발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선호 성분 및 트렌드 분석 결과를 신규 제품 기획에 반영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3.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고객 관리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개인 맞춤 추천을 통해 장기 고객 유지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(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재구매율 증대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)</a:t>
                      </a:r>
                    </a:p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</a:pPr>
                      <a:r>
                        <a:rPr lang="en-US" alt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4.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전략 수립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브랜드별 경쟁 제품 분석 및 차별화 전략 도출</a:t>
                      </a:r>
                      <a:endParaRPr lang="ko-KR" sz="2000" b="0" i="0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5380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4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응용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프로그램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연계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방안</a:t>
                      </a:r>
                      <a:endParaRPr lang="en-US" sz="2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모바일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앱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사용자 프로필 기반 실시간 추천 제공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-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웹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플랫폼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쇼핑몰 내 개인 맞춤 추천 위젯 제공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-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외부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서비스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연계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카카오톡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/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네이버 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API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와 연동해 제품 추천 알림 제공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-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실시간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업데이트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인스타그램 등에서 인기 성분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·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제품 트렌드 반영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53803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5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기대</a:t>
                      </a:r>
                      <a:r>
                        <a:rPr lang="en-US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</a:t>
                      </a:r>
                      <a:r>
                        <a:rPr lang="ko-KR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효과</a:t>
                      </a:r>
                      <a:endParaRPr lang="en-US" sz="2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사용자 맞춤형 추천 정확도 향상 → 구매 만족도 및 충성도 증가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-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브랜드사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불필요한 마케팅 비용 절감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타겟 마케팅 효율성 강화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-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플랫폼사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: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사용자 체류 시간 증가 및 재구매율 상승</a:t>
                      </a:r>
                      <a:r>
                        <a:rPr lang="en-US" sz="20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
-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시장 경쟁력 강화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9899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133" b="0" i="0" u="none" strike="noStrike">
                          <a:solidFill>
                            <a:srgbClr val="54443F"/>
                          </a:solidFill>
                          <a:latin typeface="Pretendard SemiBold"/>
                        </a:rPr>
                        <a:t>6</a:t>
                      </a:r>
                      <a:endParaRPr lang="en-US" sz="1100"/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3CC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" sz="2000" b="0" i="0" u="none" strike="noStrike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결론</a:t>
                      </a:r>
                      <a:endParaRPr lang="en-US" sz="20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1" indent="-342900" algn="l">
                        <a:lnSpc>
                          <a:spcPct val="116199"/>
                        </a:lnSpc>
                        <a:buClr>
                          <a:srgbClr val="000000"/>
                        </a:buClr>
                        <a:buFont typeface="Arial"/>
                        <a:buChar char="●"/>
                        <a:defRPr/>
                      </a:pP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본 프로젝트는 피부타입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·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취향 데이터를 활용한 추천 결과를 실제 서비스에 적용하여 </a:t>
                      </a:r>
                      <a:r>
                        <a:rPr lang="ko-KR" altLang="en-US" sz="20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맞춤형 사용자 경험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을 제공한다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.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협업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서비스 확장 전략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, 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응용 프로그램 연계를 통해 </a:t>
                      </a:r>
                      <a:r>
                        <a:rPr lang="ko-KR" altLang="en-US" sz="20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실질적이고 지속 가능한 비즈니스 가치</a:t>
                      </a:r>
                      <a:r>
                        <a:rPr lang="ko-KR" altLang="en-US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 창출이 가능하다</a:t>
                      </a:r>
                      <a:r>
                        <a:rPr lang="en-US" altLang="ko-KR" sz="20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Pretendard SemiBold" panose="020B0600000101010101" charset="-127"/>
                          <a:ea typeface="Pretendard SemiBold" panose="020B0600000101010101" charset="-127"/>
                        </a:rPr>
                        <a:t>.</a:t>
                      </a:r>
                      <a:endParaRPr lang="en-US" sz="20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Pretendard SemiBold" panose="020B0600000101010101" charset="-127"/>
                        <a:ea typeface="Pretendard SemiBold" panose="020B0600000101010101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2578100" y="762000"/>
            <a:ext cx="1587500" cy="1422400"/>
          </a:xfrm>
          <a:prstGeom prst="rect">
            <a:avLst/>
          </a:prstGeom>
        </p:spPr>
        <p:txBody>
          <a:bodyPr rtlCol="0" anchor="t"/>
          <a:lstStyle/>
          <a:p>
            <a:pPr lvl="0" algn="ctr">
              <a:lnSpc>
                <a:spcPct val="116199"/>
              </a:lnSpc>
            </a:pPr>
            <a:r>
              <a:rPr lang="en" sz="8000" b="0" i="0" u="none" strike="noStrike">
                <a:solidFill>
                  <a:srgbClr val="FFFFFF"/>
                </a:solidFill>
                <a:latin typeface="Pretendard SemiBold"/>
              </a:rPr>
              <a:t>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3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400" y="6858000"/>
            <a:ext cx="24409400" cy="6896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2743200"/>
            <a:ext cx="22720300" cy="822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92800" y="2501900"/>
            <a:ext cx="3771900" cy="200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400" y="8877300"/>
            <a:ext cx="3606800" cy="9779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781800" y="9144000"/>
            <a:ext cx="3022600" cy="431800"/>
          </a:xfrm>
          <a:prstGeom prst="rect">
            <a:avLst/>
          </a:prstGeom>
        </p:spPr>
        <p:txBody>
          <a:bodyPr lIns="0" tIns="3047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2399" b="0" i="0" u="none" strike="noStrike">
                <a:solidFill>
                  <a:srgbClr val="FFFFFF"/>
                </a:solidFill>
                <a:latin typeface="Pretendard Medium"/>
              </a:rPr>
              <a:t>2</a:t>
            </a:r>
            <a:r>
              <a:rPr lang="ko-KR" sz="2399" b="0" i="0" u="none" strike="noStrike">
                <a:solidFill>
                  <a:srgbClr val="FFFFFF"/>
                </a:solidFill>
                <a:ea typeface="Pretendard Medium"/>
              </a:rPr>
              <a:t>조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3500" y="8877300"/>
            <a:ext cx="3606800" cy="9779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0515600" y="9144000"/>
            <a:ext cx="3022600" cy="431800"/>
          </a:xfrm>
          <a:prstGeom prst="rect">
            <a:avLst/>
          </a:prstGeom>
        </p:spPr>
        <p:txBody>
          <a:bodyPr lIns="0" tIns="3047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399" b="0" i="0" u="none" strike="noStrike">
                <a:solidFill>
                  <a:srgbClr val="180D0A"/>
                </a:solidFill>
                <a:ea typeface="Pretendard Medium"/>
              </a:rPr>
              <a:t>윤태현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44600" y="8877300"/>
            <a:ext cx="3606800" cy="9779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4236700" y="9144000"/>
            <a:ext cx="3022600" cy="431800"/>
          </a:xfrm>
          <a:prstGeom prst="rect">
            <a:avLst/>
          </a:prstGeom>
        </p:spPr>
        <p:txBody>
          <a:bodyPr lIns="0" tIns="30479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2399" b="0" i="0" u="none" strike="noStrike">
                <a:solidFill>
                  <a:srgbClr val="180D0A"/>
                </a:solidFill>
                <a:ea typeface="Pretendard Medium"/>
              </a:rPr>
              <a:t>전익환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170900" y="10769600"/>
            <a:ext cx="2489200" cy="355600"/>
          </a:xfrm>
          <a:prstGeom prst="rect">
            <a:avLst/>
          </a:prstGeom>
        </p:spPr>
        <p:txBody>
          <a:bodyPr lIns="0" tIns="12700" rIns="0" bIns="0" rtlCol="0" anchor="t"/>
          <a:lstStyle/>
          <a:p>
            <a:pPr lvl="0" algn="r">
              <a:lnSpc>
                <a:spcPct val="107899"/>
              </a:lnSpc>
            </a:pPr>
            <a:r>
              <a:rPr lang="en" sz="2000" b="0" i="0" u="none" strike="noStrike" spc="-20">
                <a:solidFill>
                  <a:srgbClr val="FFFFFF"/>
                </a:solidFill>
                <a:latin typeface="Pretendard Medium"/>
              </a:rPr>
              <a:t>KOREA IT ACADEMY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42500" y="9817100"/>
            <a:ext cx="596900" cy="685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18300" y="2743200"/>
            <a:ext cx="2120900" cy="14859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5715000" y="5372100"/>
            <a:ext cx="12966700" cy="2374900"/>
          </a:xfrm>
          <a:prstGeom prst="rect">
            <a:avLst/>
          </a:prstGeom>
        </p:spPr>
        <p:txBody>
          <a:bodyPr lIns="0" tIns="169333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" sz="13333" b="0" i="0" u="none" strike="noStrike">
                <a:solidFill>
                  <a:srgbClr val="180D0A"/>
                </a:solidFill>
                <a:latin typeface="Pretendard Bold"/>
              </a:rPr>
              <a:t> 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1654</Words>
  <Application>Microsoft Office PowerPoint</Application>
  <PresentationFormat>사용자 지정</PresentationFormat>
  <Paragraphs>345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Pretendard Bold</vt:lpstr>
      <vt:lpstr>Pretendard Medium</vt:lpstr>
      <vt:lpstr>Arial</vt:lpstr>
      <vt:lpstr>Pretendard SemiBold</vt:lpstr>
      <vt:lpstr>Pretendard Regular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FullName</cp:lastModifiedBy>
  <cp:revision>6</cp:revision>
  <dcterms:created xsi:type="dcterms:W3CDTF">2006-08-16T00:00:00Z</dcterms:created>
  <dcterms:modified xsi:type="dcterms:W3CDTF">2025-09-25T03:17:10Z</dcterms:modified>
</cp:coreProperties>
</file>